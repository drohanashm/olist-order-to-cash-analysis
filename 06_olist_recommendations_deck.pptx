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charts/chart1.xml" ContentType="application/vnd.openxmlformats-officedocument.drawingml.chart+xml"/>
  <Override PartName="/ppt/charts/chart2.xml" ContentType="application/vnd.openxmlformats-officedocument.drawingml.chart+xml"/>
  <Override PartName="/ppt/slideMasters/slideMaster4.xml" ContentType="application/vnd.openxmlformats-officedocument.presentationml.slideMaster+xml"/>
  <Override PartName="/ppt/slides/slide4.xml" ContentType="application/vnd.openxmlformats-officedocument.presentationml.slide+xml"/>
  <Override PartName="/ppt/charts/chart3.xml" ContentType="application/vnd.openxmlformats-officedocument.drawingml.chart+xml"/>
  <Override PartName="/ppt/charts/chart4.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Context" id="{b2969a04-2a23-218e-58f7-0e5b02348662}">
          <p14:sldIdLst>
            <p14:sldId id="256"/>
            <p14:sldId id="257"/>
          </p14:sldIdLst>
        </p14:section>
        <p14:section name="Findings" id="{54acfca7-8bbe-3c7d-41d9-a940b1dfa4cd}">
          <p14:sldIdLst>
            <p14:sldId id="258"/>
            <p14:sldId id="259"/>
          </p14:sldIdLst>
        </p14:section>
        <p14:section name="Actions" id="{3bc1c2f5-53ad-4f06-e0e3-7470db95848e}">
          <p14:sldIdLst>
            <p14:sldId id="260"/>
            <p14:sldId id="26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F2937"/>
                </a:solidFill>
                <a:latin typeface="+mn-lt"/>
              </a:defRPr>
            </a:pPr>
            <a:r>
              <a:rPr sz="1200" b="0" i="0" u="none" strike="noStrike">
                <a:solidFill>
                  <a:srgbClr val="1F2937"/>
                </a:solidFill>
                <a:latin typeface="+mn-lt"/>
              </a:rPr>
              <a:t>Finding 1: average review score (1-5 stars)</a:t>
            </a:r>
          </a:p>
        </c:rich>
      </c:tx>
      <c:layout/>
      <c:overlay val="0"/>
    </c:title>
    <c:autoTitleDeleted val="0"/>
    <c:plotArea>
      <c:layout/>
      <c:barChart>
        <c:barDir val="col"/>
        <c:grouping val="clustered"/>
        <c:varyColors val="0"/>
        <c:ser>
          <c:idx val="0"/>
          <c:order val="0"/>
          <c:tx>
            <c:strRef>
              <c:f>Sheet1!$B$1</c:f>
              <c:strCache>
                <c:ptCount val="1"/>
                <c:pt idx="0">
                  <c:v>Average review score</c:v>
                </c:pt>
              </c:strCache>
            </c:strRef>
          </c:tx>
          <c:spPr>
            <a:solidFill>
              <a:srgbClr val="0F766E"/>
            </a:solidFill>
            <a:effectLst/>
          </c:spPr>
          <c:invertIfNegative val="0"/>
          <c:dLbls>
            <c:numFmt formatCode="0.00" sourceLinked="0"/>
            <c:txPr>
              <a:bodyPr/>
              <a:lstStyle/>
              <a:p>
                <a:pPr>
                  <a:defRPr b="0" i="0" strike="noStrike" sz="1000" u="none">
                    <a:solidFill>
                      <a:srgbClr val="1F2937"/>
                    </a:solidFill>
                    <a:latin typeface="+mn-lt"/>
                  </a:defRPr>
                </a:pPr>
              </a:p>
            </c:txPr>
            <c:showLegendKey val="0"/>
            <c:showVal val="1"/>
            <c:showCatName val="0"/>
            <c:showSerName val="0"/>
            <c:showPercent val="0"/>
            <c:showBubbleSize val="0"/>
            <c:showLeaderLines val="0"/>
          </c:dLbls>
          <c:cat>
            <c:multiLvlStrRef>
              <c:f>Sheet1!$A$2:$A$5</c:f>
              <c:multiLvlStrCache>
                <c:ptCount val="4"/>
                <c:lvl>
                  <c:pt idx="0">
                    <c:v>On time or early</c:v>
                  </c:pt>
                  <c:pt idx="1">
                    <c:v>Late 1-3 days</c:v>
                  </c:pt>
                  <c:pt idx="2">
                    <c:v>Late 4-7 days</c:v>
                  </c:pt>
                  <c:pt idx="3">
                    <c:v>Late over 7 days</c:v>
                  </c:pt>
                </c:lvl>
              </c:multiLvlStrCache>
            </c:multiLvlStrRef>
          </c:cat>
          <c:val>
            <c:numRef>
              <c:f>Sheet1!$B$2:$B$5</c:f>
              <c:numCache>
                <c:formatCode>General</c:formatCode>
                <c:ptCount val="4"/>
                <c:pt idx="0">
                  <c:v>4.29</c:v>
                </c:pt>
                <c:pt idx="1">
                  <c:v>3.29</c:v>
                </c:pt>
                <c:pt idx="2">
                  <c:v>2.1</c:v>
                </c:pt>
                <c:pt idx="3">
                  <c:v>1.7</c:v>
                </c:pt>
              </c:numCache>
            </c:numRef>
          </c:val>
        </c:ser>
        <c:dLbls>
          <c:numFmt formatCode="0.00" sourceLinked="0"/>
          <c:txPr>
            <a:bodyPr/>
            <a:lstStyle/>
            <a:p>
              <a:pPr>
                <a:defRPr b="0" i="0" strike="noStrike" sz="1000" u="none">
                  <a:solidFill>
                    <a:srgbClr val="1F2937"/>
                  </a:solidFill>
                  <a:latin typeface="+mn-lt"/>
                </a:defRPr>
              </a:pPr>
            </a:p>
          </c:txPr>
          <c:showLegendKey val="0"/>
          <c:showVal val="1"/>
          <c:showCatName val="0"/>
          <c:showSerName val="0"/>
          <c:showPercent val="0"/>
          <c:showBubbleSize val="0"/>
          <c:showLeaderLines val="0"/>
        </c:dLbls>
        <c:gapWidth val="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1F2937"/>
                </a:solidFill>
                <a:latin typeface="+mn-lt"/>
              </a:defRPr>
            </a:pPr>
            <a:endParaRPr lang="en-US"/>
          </a:p>
        </c:txPr>
        <c:crossAx val="2094734552"/>
        <c:crosses val="autoZero"/>
        <c:auto val="1"/>
        <c:lblAlgn val="ctr"/>
        <c:noMultiLvlLbl val="1"/>
      </c:catAx>
      <c:valAx>
        <c:axId val="2094734552"/>
        <c:scaling>
          <c:orientation val="minMax"/>
          <c:max val="5"/>
          <c:min val="0"/>
        </c:scaling>
        <c:delete val="0"/>
        <c:axPos val="l"/>
        <c:majorGridlines>
          <c:spPr>
            <a:ln w="6350" cap="flat">
              <a:solidFill>
                <a:srgbClr val="E5E7EB"/>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6B7280"/>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F2937"/>
                </a:solidFill>
                <a:latin typeface="+mn-lt"/>
              </a:defRPr>
            </a:pPr>
            <a:r>
              <a:rPr sz="1200" b="0" i="0" u="none" strike="noStrike">
                <a:solidFill>
                  <a:srgbClr val="1F2937"/>
                </a:solidFill>
                <a:latin typeface="+mn-lt"/>
              </a:rPr>
              <a:t>Finding 2: % of deliveries late, 10 worst states</a:t>
            </a:r>
          </a:p>
        </c:rich>
      </c:tx>
      <c:layout/>
      <c:overlay val="0"/>
    </c:title>
    <c:autoTitleDeleted val="0"/>
    <c:plotArea>
      <c:layout/>
      <c:barChart>
        <c:barDir val="col"/>
        <c:grouping val="clustered"/>
        <c:varyColors val="0"/>
        <c:ser>
          <c:idx val="0"/>
          <c:order val="0"/>
          <c:tx>
            <c:strRef>
              <c:f>Sheet1!$B$1</c:f>
              <c:strCache>
                <c:ptCount val="1"/>
                <c:pt idx="0">
                  <c:v>Late %</c:v>
                </c:pt>
              </c:strCache>
            </c:strRef>
          </c:tx>
          <c:spPr>
            <a:solidFill>
              <a:srgbClr val="C0392B"/>
            </a:solidFill>
            <a:effectLst/>
          </c:spPr>
          <c:invertIfNegative val="0"/>
          <c:dLbls>
            <c:numFmt formatCode="0.0" sourceLinked="0"/>
            <c:txPr>
              <a:bodyPr/>
              <a:lstStyle/>
              <a:p>
                <a:pPr>
                  <a:defRPr b="0" i="0" strike="noStrike" sz="900" u="none">
                    <a:solidFill>
                      <a:srgbClr val="1F2937"/>
                    </a:solidFill>
                    <a:latin typeface="+mn-lt"/>
                  </a:defRPr>
                </a:pPr>
              </a:p>
            </c:txPr>
            <c:showLegendKey val="0"/>
            <c:showVal val="1"/>
            <c:showCatName val="0"/>
            <c:showSerName val="0"/>
            <c:showPercent val="0"/>
            <c:showBubbleSize val="0"/>
            <c:showLeaderLines val="0"/>
          </c:dLbls>
          <c:cat>
            <c:multiLvlStrRef>
              <c:f>Sheet1!$A$2:$A$11</c:f>
              <c:multiLvlStrCache>
                <c:ptCount val="10"/>
                <c:lvl>
                  <c:pt idx="0">
                    <c:v>AL</c:v>
                  </c:pt>
                  <c:pt idx="1">
                    <c:v>MA</c:v>
                  </c:pt>
                  <c:pt idx="2">
                    <c:v>SE</c:v>
                  </c:pt>
                  <c:pt idx="3">
                    <c:v>PI</c:v>
                  </c:pt>
                  <c:pt idx="4">
                    <c:v>CE</c:v>
                  </c:pt>
                  <c:pt idx="5">
                    <c:v>RR</c:v>
                  </c:pt>
                  <c:pt idx="6">
                    <c:v>BA</c:v>
                  </c:pt>
                  <c:pt idx="7">
                    <c:v>RJ</c:v>
                  </c:pt>
                  <c:pt idx="8">
                    <c:v>PA</c:v>
                  </c:pt>
                  <c:pt idx="9">
                    <c:v>ES</c:v>
                  </c:pt>
                </c:lvl>
              </c:multiLvlStrCache>
            </c:multiLvlStrRef>
          </c:cat>
          <c:val>
            <c:numRef>
              <c:f>Sheet1!$B$2:$B$11</c:f>
              <c:numCache>
                <c:formatCode>General</c:formatCode>
                <c:ptCount val="10"/>
                <c:pt idx="0">
                  <c:v>21.4</c:v>
                </c:pt>
                <c:pt idx="1">
                  <c:v>17.4</c:v>
                </c:pt>
                <c:pt idx="2">
                  <c:v>15.2</c:v>
                </c:pt>
                <c:pt idx="3">
                  <c:v>13.9</c:v>
                </c:pt>
                <c:pt idx="4">
                  <c:v>13.8</c:v>
                </c:pt>
                <c:pt idx="5">
                  <c:v>12.2</c:v>
                </c:pt>
                <c:pt idx="6">
                  <c:v>12.2</c:v>
                </c:pt>
                <c:pt idx="7">
                  <c:v>12.1</c:v>
                </c:pt>
                <c:pt idx="8">
                  <c:v>11.2</c:v>
                </c:pt>
                <c:pt idx="9">
                  <c:v>10.7</c:v>
                </c:pt>
              </c:numCache>
            </c:numRef>
          </c:val>
        </c:ser>
        <c:dLbls>
          <c:numFmt formatCode="0.0" sourceLinked="0"/>
          <c:txPr>
            <a:bodyPr/>
            <a:lstStyle/>
            <a:p>
              <a:pPr>
                <a:defRPr b="0" i="0" strike="noStrike" sz="900" u="none">
                  <a:solidFill>
                    <a:srgbClr val="1F2937"/>
                  </a:solidFill>
                  <a:latin typeface="+mn-lt"/>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1F2937"/>
                </a:solidFill>
                <a:latin typeface="+mn-lt"/>
              </a:defRPr>
            </a:pPr>
            <a:endParaRPr lang="en-US"/>
          </a:p>
        </c:txPr>
        <c:crossAx val="2094734552"/>
        <c:crosses val="autoZero"/>
        <c:auto val="1"/>
        <c:lblAlgn val="ctr"/>
        <c:noMultiLvlLbl val="1"/>
      </c:catAx>
      <c:valAx>
        <c:axId val="2094734552"/>
        <c:scaling>
          <c:orientation val="minMax"/>
          <c:min val="0"/>
        </c:scaling>
        <c:delete val="0"/>
        <c:axPos val="l"/>
        <c:majorGridlines>
          <c:spPr>
            <a:ln w="6350" cap="flat">
              <a:solidFill>
                <a:srgbClr val="E5E7EB"/>
              </a:solidFill>
              <a:prstDash val="solid"/>
              <a:round/>
            </a:ln>
          </c:spPr>
        </c:majorGridlines>
        <c:numFmt formatCode="0&quot;%&quot;"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6B7280"/>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F2937"/>
                </a:solidFill>
                <a:latin typeface="+mn-lt"/>
              </a:defRPr>
            </a:pPr>
            <a:r>
              <a:rPr sz="1200" b="0" i="0" u="none" strike="noStrike">
                <a:solidFill>
                  <a:srgbClr val="1F2937"/>
                </a:solidFill>
                <a:latin typeface="+mn-lt"/>
              </a:rPr>
              <a:t>Finding 3: % of deliveries late, by order month</a:t>
            </a:r>
          </a:p>
        </c:rich>
      </c:tx>
      <c:layout/>
      <c:overlay val="0"/>
    </c:title>
    <c:autoTitleDeleted val="0"/>
    <c:plotArea>
      <c:layout/>
      <c:lineChart>
        <c:varyColors val="0"/>
        <c:ser>
          <c:idx val="0"/>
          <c:order val="0"/>
          <c:tx>
            <c:strRef>
              <c:f>Sheet1!$B$1</c:f>
              <c:strCache>
                <c:ptCount val="1"/>
                <c:pt idx="0">
                  <c:v>Late %</c:v>
                </c:pt>
              </c:strCache>
            </c:strRef>
          </c:tx>
          <c:spPr>
            <a:solidFill>
              <a:srgbClr val="C0392B"/>
            </a:solidFill>
            <a:ln w="31750" cap="flat">
              <a:solidFill>
                <a:srgbClr val="C0392B"/>
              </a:solidFill>
              <a:prstDash val="solid"/>
              <a:round/>
            </a:ln>
            <a:effectLst/>
          </c:spPr>
          <c:invertIfNegative val="0"/>
          <c:dLbls>
            <c:numFmt formatCode="#,##0" sourceLinked="0"/>
            <c:txPr>
              <a:bodyPr/>
              <a:lstStyle/>
              <a:p>
                <a:pPr>
                  <a:defRPr b="0" i="0" strike="noStrike" sz="1000" u="none">
                    <a:solidFill>
                      <a:srgbClr val="1F2937"/>
                    </a:solidFill>
                    <a:latin typeface="+mn-lt"/>
                  </a:defRPr>
                </a:pPr>
              </a:p>
            </c:txPr>
            <c:showLegendKey val="0"/>
            <c:showVal val="0"/>
            <c:showCatName val="0"/>
            <c:showSerName val="0"/>
            <c:showPercent val="0"/>
            <c:showBubbleSize val="0"/>
            <c:showLeaderLines val="0"/>
          </c:dLbls>
          <c:marker>
            <c:symbol val="circle"/>
            <c:size val="5"/>
            <c:spPr>
              <a:solidFill>
                <a:srgbClr val="C0392B"/>
              </a:solidFill>
              <a:ln w="9525" cap="flat">
                <a:solidFill>
                  <a:srgbClr val="C0392B"/>
                </a:solidFill>
                <a:prstDash val="solid"/>
                <a:round/>
              </a:ln>
              <a:effectLst/>
            </c:spPr>
          </c:marker>
          <c:cat>
            <c:multiLvlStrRef>
              <c:f>Sheet1!$A$2:$A$21</c:f>
              <c:multiLvlStrCache>
                <c:ptCount val="20"/>
                <c:lvl>
                  <c:pt idx="0">
                    <c:v>17-01</c:v>
                  </c:pt>
                  <c:pt idx="1">
                    <c:v>17-02</c:v>
                  </c:pt>
                  <c:pt idx="2">
                    <c:v>17-03</c:v>
                  </c:pt>
                  <c:pt idx="3">
                    <c:v>17-04</c:v>
                  </c:pt>
                  <c:pt idx="4">
                    <c:v>17-05</c:v>
                  </c:pt>
                  <c:pt idx="5">
                    <c:v>17-06</c:v>
                  </c:pt>
                  <c:pt idx="6">
                    <c:v>17-07</c:v>
                  </c:pt>
                  <c:pt idx="7">
                    <c:v>17-08</c:v>
                  </c:pt>
                  <c:pt idx="8">
                    <c:v>17-09</c:v>
                  </c:pt>
                  <c:pt idx="9">
                    <c:v>17-10</c:v>
                  </c:pt>
                  <c:pt idx="10">
                    <c:v>17-11</c:v>
                  </c:pt>
                  <c:pt idx="11">
                    <c:v>17-12</c:v>
                  </c:pt>
                  <c:pt idx="12">
                    <c:v>18-01</c:v>
                  </c:pt>
                  <c:pt idx="13">
                    <c:v>18-02</c:v>
                  </c:pt>
                  <c:pt idx="14">
                    <c:v>18-03</c:v>
                  </c:pt>
                  <c:pt idx="15">
                    <c:v>18-04</c:v>
                  </c:pt>
                  <c:pt idx="16">
                    <c:v>18-05</c:v>
                  </c:pt>
                  <c:pt idx="17">
                    <c:v>18-06</c:v>
                  </c:pt>
                  <c:pt idx="18">
                    <c:v>18-07</c:v>
                  </c:pt>
                  <c:pt idx="19">
                    <c:v>18-08</c:v>
                  </c:pt>
                </c:lvl>
              </c:multiLvlStrCache>
            </c:multiLvlStrRef>
          </c:cat>
          <c:val>
            <c:numRef>
              <c:f>Sheet1!$B$2:$B$21</c:f>
              <c:numCache>
                <c:formatCode>General</c:formatCode>
                <c:ptCount val="20"/>
                <c:pt idx="0">
                  <c:v>2.9</c:v>
                </c:pt>
                <c:pt idx="1">
                  <c:v>3</c:v>
                </c:pt>
                <c:pt idx="2">
                  <c:v>4.6</c:v>
                </c:pt>
                <c:pt idx="3">
                  <c:v>6.6</c:v>
                </c:pt>
                <c:pt idx="4">
                  <c:v>3</c:v>
                </c:pt>
                <c:pt idx="5">
                  <c:v>3</c:v>
                </c:pt>
                <c:pt idx="6">
                  <c:v>2.8</c:v>
                </c:pt>
                <c:pt idx="7">
                  <c:v>2.9</c:v>
                </c:pt>
                <c:pt idx="8">
                  <c:v>4.4</c:v>
                </c:pt>
                <c:pt idx="9">
                  <c:v>4.2</c:v>
                </c:pt>
                <c:pt idx="10">
                  <c:v>12.4</c:v>
                </c:pt>
                <c:pt idx="11">
                  <c:v>7.5</c:v>
                </c:pt>
                <c:pt idx="12">
                  <c:v>5.7</c:v>
                </c:pt>
                <c:pt idx="13">
                  <c:v>14.1</c:v>
                </c:pt>
                <c:pt idx="14">
                  <c:v>19</c:v>
                </c:pt>
                <c:pt idx="15">
                  <c:v>4.5</c:v>
                </c:pt>
                <c:pt idx="16">
                  <c:v>6.6</c:v>
                </c:pt>
                <c:pt idx="17">
                  <c:v>1.2</c:v>
                </c:pt>
                <c:pt idx="18">
                  <c:v>3.4</c:v>
                </c:pt>
                <c:pt idx="19">
                  <c:v>6.2</c:v>
                </c:pt>
              </c:numCache>
            </c:numRef>
          </c:val>
          <c:smooth val="0"/>
        </c:ser>
        <c:dLbls>
          <c:numFmt formatCode="#,##0" sourceLinked="0"/>
          <c:txPr>
            <a:bodyPr/>
            <a:lstStyle/>
            <a:p>
              <a:pPr>
                <a:defRPr b="0" i="0" strike="noStrike" sz="1000" u="none">
                  <a:solidFill>
                    <a:srgbClr val="1F2937"/>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rot="16200000"/>
          <a:lstStyle/>
          <a:p>
            <a:pPr>
              <a:defRPr sz="800" b="0" i="0" u="none" strike="noStrike">
                <a:solidFill>
                  <a:srgbClr val="1F2937"/>
                </a:solidFill>
                <a:latin typeface="+mn-lt"/>
              </a:defRPr>
            </a:pPr>
            <a:endParaRPr lang="en-US"/>
          </a:p>
        </c:txPr>
        <c:crossAx val="2094734552"/>
        <c:crosses val="autoZero"/>
        <c:auto val="1"/>
        <c:lblAlgn val="ctr"/>
        <c:noMultiLvlLbl val="1"/>
      </c:catAx>
      <c:valAx>
        <c:axId val="2094734552"/>
        <c:scaling>
          <c:orientation val="minMax"/>
          <c:min val="0"/>
        </c:scaling>
        <c:delete val="0"/>
        <c:axPos val="l"/>
        <c:majorGridlines>
          <c:spPr>
            <a:ln w="6350" cap="flat">
              <a:solidFill>
                <a:srgbClr val="E5E7EB"/>
              </a:solidFill>
              <a:prstDash val="solid"/>
              <a:round/>
            </a:ln>
          </c:spPr>
        </c:majorGridlines>
        <c:numFmt formatCode="0&quot;%&quot;"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6B7280"/>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F2937"/>
                </a:solidFill>
                <a:latin typeface="+mn-lt"/>
              </a:defRPr>
            </a:pPr>
            <a:r>
              <a:rPr sz="1200" b="0" i="0" u="none" strike="noStrike">
                <a:solidFill>
                  <a:srgbClr val="1F2937"/>
                </a:solidFill>
                <a:latin typeface="+mn-lt"/>
              </a:rPr>
              <a:t>Finding 4: share of customers</a:t>
            </a:r>
          </a:p>
        </c:rich>
      </c:tx>
      <c:layout/>
      <c:overlay val="0"/>
    </c:title>
    <c:autoTitleDeleted val="0"/>
    <c:plotArea>
      <c:layout/>
      <c:doughnutChart>
        <c:varyColors val="1"/>
        <c:ser>
          <c:idx val="0"/>
          <c:order val="0"/>
          <c:tx>
            <c:strRef>
              <c:f>Sheet1!$B$1</c:f>
              <c:strCache>
                <c:ptCount val="1"/>
                <c:pt idx="0">
                  <c:v>Customers</c:v>
                </c:pt>
              </c:strCache>
            </c:strRef>
          </c:tx>
          <c:spPr>
            <a:solidFill>
              <a:schemeClr val="accent1"/>
            </a:solidFill>
            <a:ln w="9525" cap="flat">
              <a:solidFill>
                <a:srgbClr val="F9F9F9"/>
              </a:solidFill>
              <a:prstDash val="solid"/>
              <a:round/>
            </a:ln>
            <a:effectLst/>
          </c:spPr>
          <c:dPt>
            <c:idx val="0"/>
            <c:bubble3D val="0"/>
            <c:spPr>
              <a:solidFill>
                <a:srgbClr val="1F3864"/>
              </a:solidFill>
              <a:effectLst/>
            </c:spPr>
          </c:dPt>
          <c:dPt>
            <c:idx val="1"/>
            <c:bubble3D val="0"/>
            <c:spPr>
              <a:solidFill>
                <a:srgbClr val="0F766E"/>
              </a:solidFill>
              <a:effectLst/>
            </c:spPr>
          </c:dPt>
          <c:dLbls>
            <c:dLbl>
              <c:idx val="0"/>
              <c:numFmt formatCode="0.0&quot;%&quot;" sourceLinked="0"/>
              <c:spPr/>
              <c:txPr>
                <a:bodyPr/>
                <a:lstStyle/>
                <a:p>
                  <a:pPr>
                    <a:defRPr sz="1000" b="0" i="0" u="none" strike="noStrike">
                      <a:solidFill>
                        <a:srgbClr val="FFFFFF"/>
                      </a:solidFill>
                      <a:latin typeface="+mn-lt"/>
                    </a:defRPr>
                  </a:pPr>
                </a:p>
              </c:txPr>
              <c:showLegendKey val="0"/>
              <c:showVal val="1"/>
              <c:showCatName val="0"/>
              <c:showSerName val="0"/>
              <c:showPercent val="0"/>
              <c:showBubbleSize val="0"/>
            </c:dLbl>
            <c:dLbl>
              <c:idx val="1"/>
              <c:numFmt formatCode="0.0&quot;%&quot;" sourceLinked="0"/>
              <c:spPr/>
              <c:txPr>
                <a:bodyPr/>
                <a:lstStyle/>
                <a:p>
                  <a:pPr>
                    <a:defRPr sz="1000" b="0" i="0" u="none" strike="noStrike">
                      <a:solidFill>
                        <a:srgbClr val="FFFFFF"/>
                      </a:solidFill>
                      <a:latin typeface="+mn-lt"/>
                    </a:defRPr>
                  </a:pPr>
                </a:p>
              </c:txPr>
              <c:showLegendKey val="0"/>
              <c:showVal val="1"/>
              <c:showCatName val="0"/>
              <c:showSerName val="0"/>
              <c:showPercent val="0"/>
              <c:showBubbleSize val="0"/>
            </c:dLbl>
            <c:numFmt formatCode="0.0&quot;%&quot;"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Sheet1!$A$2:$A$3</c:f>
              <c:strCache>
                <c:ptCount val="2"/>
                <c:pt idx="0">
                  <c:v>One-time customers</c:v>
                </c:pt>
                <c:pt idx="1">
                  <c:v>Repeat customers</c:v>
                </c:pt>
              </c:strCache>
            </c:strRef>
          </c:cat>
          <c:val>
            <c:numRef>
              <c:f>Sheet1!$B$2:$B$3</c:f>
              <c:numCache>
                <c:ptCount val="2"/>
                <c:pt idx="0">
                  <c:v>97</c:v>
                </c:pt>
                <c:pt idx="1">
                  <c:v>3</c:v>
                </c:pt>
              </c:numCache>
            </c:numRef>
          </c:val>
        </c:ser>
        <c:firstSliceAng val="0"/>
        <c:holeSize val="60"/>
      </c:doughnutChart>
      <c:spPr>
        <a:noFill/>
        <a:ln>
          <a:noFill/>
        </a:ln>
        <a:effectLst/>
      </c:spPr>
    </c:plotArea>
    <c:legend>
      <c:legendPos val="b"/>
      <c:overlay val="0"/>
      <c:txPr>
        <a:bodyPr/>
        <a:lstStyle/>
        <a:p>
          <a:pPr>
            <a:defRPr sz="1000">
              <a:solidFill>
                <a:srgbClr val="1F2937"/>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Context: marketplace data, 99,441 orders. Revenue = item prices on orders that were not canceled or unavailable (R$13,494,400.74, 98,199 orders). On-time = delivered on or before the promised day: 93.2% of 96,470 delivered orders. Average review 4.09 across 98,673 reviewed orders.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Nine linked tables (customers, orders, order lines, payments, reviews, products, sellers, category names, geolocation). Cleaning is documented in the data check. The data has payments but no separate invoice table, so payment is the closest match to billing. No cost or margin data, so profit cannot be computed.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Late = delivered on a later calendar day than the estimated date: 6,534 of 96,470 delivered orders (6.8%). Average review 4.29 on time vs 2.27 when late. This shows a strong link, not proof of cause. Small states like RR have under 50 orders so ignore their rates.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Peak months: 20,846 delivered orders, 3,158 late (15.1%). All other months Jan-2017 to Aug-2018: 4.5%. Customers are identified by customer_unique_id because Olist gives a new customer_id to every order: 92,096 one-time vs 2,887 repeat customers (orders not canceled or unavailable). Repeat customers are 3.0% of customers and 5.6% of revenue.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impact figures are simple arithmetic on the data: apply the overall 6.8% late rate (or the 4.5% non-peak rate) to the problem group. Action 4 uses the gap between repeat and one-time customer revenue (R$259.95 vs R$138.38) times 1% of 92,096 one-time customers. These are illustrations, not predictions.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upfront about limits. Open or lost orders: 1,722 orders stuck in shipped, invoiced or processing status (R$315,746 payments recorded) and 1,234 canceled or unavailable (R$269,735 payments recorded). Payments recorded are not proof the cash was collected.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rgbClr val="1F3864"/>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8046720" cy="1371600"/>
          </a:xfrm>
          <a:prstGeom prst="rect">
            <a:avLst/>
          </a:prstGeom>
          <a:noFill/>
          <a:ln/>
        </p:spPr>
        <p:txBody>
          <a:bodyPr wrap="square" rtlCol="0"/>
          <a:lstStyle>
            <a:lvl1pPr algn="l" indent="0" marL="0">
              <a:buNone/>
              <a:defRPr lang="en-US" sz="3200" b="1" dirty="0">
                <a:solidFill>
                  <a:srgbClr val="FFFFFF"/>
                </a:solidFill>
                <a:latin typeface="Cambria" pitchFamily="34" charset="0"/>
                <a:ea typeface="Cambria" pitchFamily="34" charset="-122"/>
                <a:cs typeface="Cambria" pitchFamily="34" charset="-120"/>
              </a:defRPr>
            </a:lvl1pPr>
          </a:lstStyle>
          <a:p>
            <a:pPr algn="l" indent="0" marL="0">
              <a:buNone/>
            </a:pPr>
            <a:endParaRPr lang="en-US" sz="3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LIGH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868680"/>
          </a:xfrm>
          <a:prstGeom prst="rect">
            <a:avLst/>
          </a:prstGeom>
          <a:noFill/>
          <a:ln/>
        </p:spPr>
        <p:txBody>
          <a:bodyPr wrap="square" rtlCol="0"/>
          <a:lstStyle>
            <a:lvl1pPr algn="l" indent="0" marL="0">
              <a:buNone/>
              <a:defRPr lang="en-US" sz="2400" b="1" dirty="0">
                <a:solidFill>
                  <a:srgbClr val="1F3864"/>
                </a:solidFill>
                <a:latin typeface="Cambria" pitchFamily="34" charset="0"/>
                <a:ea typeface="Cambria" pitchFamily="34" charset="-122"/>
                <a:cs typeface="Cambria" pitchFamily="34" charset="-120"/>
              </a:defRPr>
            </a:lvl1pPr>
          </a:lstStyle>
          <a:p>
            <a:pPr algn="l" indent="0" marL="0">
              <a:buNone/>
            </a:pPr>
            <a:endParaRPr lang="en-US" sz="2400" dirty="0"/>
          </a:p>
        </p:txBody>
      </p:sp>
      <p:sp>
        <p:nvSpPr>
          <p:cNvPr id="3" name="Text 0"/>
          <p:cNvSpPr/>
          <p:nvPr/>
        </p:nvSpPr>
        <p:spPr>
          <a:xfrm>
            <a:off x="457200" y="4754880"/>
            <a:ext cx="7315200" cy="27432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Olist order-to-cash review  |  Source: Olist public e-commerce dataset (Sep-2016 to Oct-2018)</a:t>
            </a:r>
            <a:endParaRPr lang="en-US" sz="9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Calibri"/>
                <a:ea typeface="Calibri"/>
                <a:cs typeface="Calibri"/>
              </a:defRPr>
            </a:lvl1pPr>
          </a:lstStyle>
          <a:p>
            <a:pPr algn="l"/>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Calibri"/>
                <a:ea typeface="Calibri"/>
                <a:cs typeface="Calibri"/>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chart" Target="/ppt/charts/chart2.xml"/><Relationship Id="rId3" Type="http://schemas.openxmlformats.org/officeDocument/2006/relationships/slideLayout" Target="../slideLayouts/slideLayout3.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chart" Target="/ppt/charts/chart4.xml"/><Relationship Id="rId3" Type="http://schemas.openxmlformats.org/officeDocument/2006/relationships/slideLayout" Target="../slideLayouts/slideLayout3.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8046720" cy="1371600"/>
          </a:xfrm>
          <a:prstGeom prst="rect">
            <a:avLst/>
          </a:prstGeom>
          <a:noFill/>
          <a:ln/>
        </p:spPr>
        <p:txBody>
          <a:bodyPr wrap="square" lIns="0" tIns="0" rIns="0" bIns="0" rtlCol="0" anchor="t"/>
          <a:lstStyle/>
          <a:p>
            <a:pPr algn="l" indent="0" marL="0">
              <a:buNone/>
            </a:pPr>
            <a:r>
              <a:rPr lang="en-US" sz="3200" b="1" dirty="0">
                <a:solidFill>
                  <a:srgbClr val="FFFFFF"/>
                </a:solidFill>
                <a:latin typeface="Cambria" pitchFamily="34" charset="0"/>
                <a:ea typeface="Cambria" pitchFamily="34" charset="-122"/>
                <a:cs typeface="Cambria" pitchFamily="34" charset="-120"/>
              </a:rPr>
              <a:t>Where is the business losing revenue or customer satisfaction?</a:t>
            </a:r>
            <a:endParaRPr lang="en-US" sz="3200" dirty="0"/>
          </a:p>
        </p:txBody>
      </p:sp>
      <p:sp>
        <p:nvSpPr>
          <p:cNvPr id="3" name="Text 1"/>
          <p:cNvSpPr txBox="1"/>
          <p:nvPr/>
        </p:nvSpPr>
        <p:spPr>
          <a:xfrm>
            <a:off x="548640" y="1783080"/>
            <a:ext cx="8046720" cy="320040"/>
          </a:xfrm>
          <a:prstGeom prst="rect">
            <a:avLst/>
          </a:prstGeom>
          <a:noFill/>
          <a:ln/>
        </p:spPr>
        <p:txBody>
          <a:bodyPr wrap="square" lIns="0" tIns="0" rIns="0" bIns="0" rtlCol="0" anchor="ctr"/>
          <a:lstStyle/>
          <a:p>
            <a:pPr indent="0" marL="0">
              <a:buNone/>
            </a:pPr>
            <a:r>
              <a:rPr lang="en-US" sz="1400" dirty="0">
                <a:solidFill>
                  <a:srgbClr val="CBD5E1"/>
                </a:solidFill>
                <a:latin typeface="Calibri" pitchFamily="34" charset="0"/>
                <a:ea typeface="Calibri" pitchFamily="34" charset="-122"/>
                <a:cs typeface="Calibri" pitchFamily="34" charset="-120"/>
              </a:rPr>
              <a:t>Order-to-cash performance review of an online marketplace  |  Sep-2016 to Oct-2018</a:t>
            </a:r>
            <a:endParaRPr lang="en-US" sz="1400" dirty="0"/>
          </a:p>
        </p:txBody>
      </p:sp>
      <p:sp>
        <p:nvSpPr>
          <p:cNvPr id="4" name="Stat card 1"/>
          <p:cNvSpPr/>
          <p:nvPr/>
        </p:nvSpPr>
        <p:spPr>
          <a:xfrm>
            <a:off x="548640" y="2423160"/>
            <a:ext cx="1874520" cy="1097280"/>
          </a:xfrm>
          <a:prstGeom prst="roundRect">
            <a:avLst>
              <a:gd name="adj" fmla="val 6667"/>
            </a:avLst>
          </a:prstGeom>
          <a:solidFill>
            <a:srgbClr val="FFFFFF">
              <a:alpha val="10000"/>
            </a:srgbClr>
          </a:solidFill>
          <a:ln w="6350">
            <a:solidFill>
              <a:srgbClr val="FFFFFF">
                <a:alpha val="40000"/>
              </a:srgbClr>
            </a:solidFill>
            <a:prstDash val="solid"/>
          </a:ln>
        </p:spPr>
      </p:sp>
      <p:sp>
        <p:nvSpPr>
          <p:cNvPr id="5" name="Text 3"/>
          <p:cNvSpPr txBox="1"/>
          <p:nvPr/>
        </p:nvSpPr>
        <p:spPr>
          <a:xfrm>
            <a:off x="548640" y="2542032"/>
            <a:ext cx="1874520" cy="548640"/>
          </a:xfrm>
          <a:prstGeom prst="rect">
            <a:avLst/>
          </a:prstGeom>
          <a:noFill/>
          <a:ln/>
        </p:spPr>
        <p:txBody>
          <a:bodyPr wrap="square" lIns="0" tIns="0" rIns="0" bIns="0" rtlCol="0" anchor="ctr"/>
          <a:lstStyle/>
          <a:p>
            <a:pPr algn="ctr" indent="0" marL="0">
              <a:buNone/>
            </a:pPr>
            <a:r>
              <a:rPr lang="en-US" sz="3000" b="1" dirty="0">
                <a:solidFill>
                  <a:srgbClr val="FFFFFF"/>
                </a:solidFill>
                <a:latin typeface="Cambria" pitchFamily="34" charset="0"/>
                <a:ea typeface="Cambria" pitchFamily="34" charset="-122"/>
                <a:cs typeface="Cambria" pitchFamily="34" charset="-120"/>
              </a:rPr>
              <a:t>R$13.5M</a:t>
            </a:r>
            <a:endParaRPr lang="en-US" sz="3000" dirty="0"/>
          </a:p>
        </p:txBody>
      </p:sp>
      <p:sp>
        <p:nvSpPr>
          <p:cNvPr id="6" name="Text 4"/>
          <p:cNvSpPr txBox="1"/>
          <p:nvPr/>
        </p:nvSpPr>
        <p:spPr>
          <a:xfrm>
            <a:off x="548640" y="3127248"/>
            <a:ext cx="1874520" cy="274320"/>
          </a:xfrm>
          <a:prstGeom prst="rect">
            <a:avLst/>
          </a:prstGeom>
          <a:noFill/>
          <a:ln/>
        </p:spPr>
        <p:txBody>
          <a:bodyPr wrap="square" lIns="0" tIns="0" rIns="0" bIns="0" rtlCol="0" anchor="ctr"/>
          <a:lstStyle/>
          <a:p>
            <a:pPr algn="ctr" indent="0" marL="0">
              <a:buNone/>
            </a:pPr>
            <a:r>
              <a:rPr lang="en-US" sz="1200" dirty="0">
                <a:solidFill>
                  <a:srgbClr val="CBD5E1"/>
                </a:solidFill>
                <a:latin typeface="Calibri" pitchFamily="34" charset="0"/>
                <a:ea typeface="Calibri" pitchFamily="34" charset="-122"/>
                <a:cs typeface="Calibri" pitchFamily="34" charset="-120"/>
              </a:rPr>
              <a:t>Revenue (item prices)</a:t>
            </a:r>
            <a:endParaRPr lang="en-US" sz="1200" dirty="0"/>
          </a:p>
        </p:txBody>
      </p:sp>
      <p:sp>
        <p:nvSpPr>
          <p:cNvPr id="7" name="Stat card 2"/>
          <p:cNvSpPr/>
          <p:nvPr/>
        </p:nvSpPr>
        <p:spPr>
          <a:xfrm>
            <a:off x="2606040" y="2423160"/>
            <a:ext cx="1874520" cy="1097280"/>
          </a:xfrm>
          <a:prstGeom prst="roundRect">
            <a:avLst>
              <a:gd name="adj" fmla="val 6667"/>
            </a:avLst>
          </a:prstGeom>
          <a:solidFill>
            <a:srgbClr val="FFFFFF">
              <a:alpha val="10000"/>
            </a:srgbClr>
          </a:solidFill>
          <a:ln w="6350">
            <a:solidFill>
              <a:srgbClr val="FFFFFF">
                <a:alpha val="40000"/>
              </a:srgbClr>
            </a:solidFill>
            <a:prstDash val="solid"/>
          </a:ln>
        </p:spPr>
      </p:sp>
      <p:sp>
        <p:nvSpPr>
          <p:cNvPr id="8" name="Text 6"/>
          <p:cNvSpPr txBox="1"/>
          <p:nvPr/>
        </p:nvSpPr>
        <p:spPr>
          <a:xfrm>
            <a:off x="2606040" y="2542032"/>
            <a:ext cx="1874520" cy="548640"/>
          </a:xfrm>
          <a:prstGeom prst="rect">
            <a:avLst/>
          </a:prstGeom>
          <a:noFill/>
          <a:ln/>
        </p:spPr>
        <p:txBody>
          <a:bodyPr wrap="square" lIns="0" tIns="0" rIns="0" bIns="0" rtlCol="0" anchor="ctr"/>
          <a:lstStyle/>
          <a:p>
            <a:pPr algn="ctr" indent="0" marL="0">
              <a:buNone/>
            </a:pPr>
            <a:r>
              <a:rPr lang="en-US" sz="3000" b="1" dirty="0">
                <a:solidFill>
                  <a:srgbClr val="FFFFFF"/>
                </a:solidFill>
                <a:latin typeface="Cambria" pitchFamily="34" charset="0"/>
                <a:ea typeface="Cambria" pitchFamily="34" charset="-122"/>
                <a:cs typeface="Cambria" pitchFamily="34" charset="-120"/>
              </a:rPr>
              <a:t>98,199</a:t>
            </a:r>
            <a:endParaRPr lang="en-US" sz="3000" dirty="0"/>
          </a:p>
        </p:txBody>
      </p:sp>
      <p:sp>
        <p:nvSpPr>
          <p:cNvPr id="9" name="Text 7"/>
          <p:cNvSpPr txBox="1"/>
          <p:nvPr/>
        </p:nvSpPr>
        <p:spPr>
          <a:xfrm>
            <a:off x="2606040" y="3127248"/>
            <a:ext cx="1874520" cy="274320"/>
          </a:xfrm>
          <a:prstGeom prst="rect">
            <a:avLst/>
          </a:prstGeom>
          <a:noFill/>
          <a:ln/>
        </p:spPr>
        <p:txBody>
          <a:bodyPr wrap="square" lIns="0" tIns="0" rIns="0" bIns="0" rtlCol="0" anchor="ctr"/>
          <a:lstStyle/>
          <a:p>
            <a:pPr algn="ctr" indent="0" marL="0">
              <a:buNone/>
            </a:pPr>
            <a:r>
              <a:rPr lang="en-US" sz="1200" dirty="0">
                <a:solidFill>
                  <a:srgbClr val="CBD5E1"/>
                </a:solidFill>
                <a:latin typeface="Calibri" pitchFamily="34" charset="0"/>
                <a:ea typeface="Calibri" pitchFamily="34" charset="-122"/>
                <a:cs typeface="Calibri" pitchFamily="34" charset="-120"/>
              </a:rPr>
              <a:t>Orders</a:t>
            </a:r>
            <a:endParaRPr lang="en-US" sz="1200" dirty="0"/>
          </a:p>
        </p:txBody>
      </p:sp>
      <p:sp>
        <p:nvSpPr>
          <p:cNvPr id="10" name="Stat card 3"/>
          <p:cNvSpPr/>
          <p:nvPr/>
        </p:nvSpPr>
        <p:spPr>
          <a:xfrm>
            <a:off x="4663440" y="2423160"/>
            <a:ext cx="1874520" cy="1097280"/>
          </a:xfrm>
          <a:prstGeom prst="roundRect">
            <a:avLst>
              <a:gd name="adj" fmla="val 6667"/>
            </a:avLst>
          </a:prstGeom>
          <a:solidFill>
            <a:srgbClr val="FFFFFF">
              <a:alpha val="10000"/>
            </a:srgbClr>
          </a:solidFill>
          <a:ln w="6350">
            <a:solidFill>
              <a:srgbClr val="FFFFFF">
                <a:alpha val="40000"/>
              </a:srgbClr>
            </a:solidFill>
            <a:prstDash val="solid"/>
          </a:ln>
        </p:spPr>
      </p:sp>
      <p:sp>
        <p:nvSpPr>
          <p:cNvPr id="11" name="Text 9"/>
          <p:cNvSpPr txBox="1"/>
          <p:nvPr/>
        </p:nvSpPr>
        <p:spPr>
          <a:xfrm>
            <a:off x="4663440" y="2542032"/>
            <a:ext cx="1874520" cy="548640"/>
          </a:xfrm>
          <a:prstGeom prst="rect">
            <a:avLst/>
          </a:prstGeom>
          <a:noFill/>
          <a:ln/>
        </p:spPr>
        <p:txBody>
          <a:bodyPr wrap="square" lIns="0" tIns="0" rIns="0" bIns="0" rtlCol="0" anchor="ctr"/>
          <a:lstStyle/>
          <a:p>
            <a:pPr algn="ctr" indent="0" marL="0">
              <a:buNone/>
            </a:pPr>
            <a:r>
              <a:rPr lang="en-US" sz="3000" b="1" dirty="0">
                <a:solidFill>
                  <a:srgbClr val="FFFFFF"/>
                </a:solidFill>
                <a:latin typeface="Cambria" pitchFamily="34" charset="0"/>
                <a:ea typeface="Cambria" pitchFamily="34" charset="-122"/>
                <a:cs typeface="Cambria" pitchFamily="34" charset="-120"/>
              </a:rPr>
              <a:t>93.2%</a:t>
            </a:r>
            <a:endParaRPr lang="en-US" sz="3000" dirty="0"/>
          </a:p>
        </p:txBody>
      </p:sp>
      <p:sp>
        <p:nvSpPr>
          <p:cNvPr id="12" name="Text 10"/>
          <p:cNvSpPr txBox="1"/>
          <p:nvPr/>
        </p:nvSpPr>
        <p:spPr>
          <a:xfrm>
            <a:off x="4663440" y="3127248"/>
            <a:ext cx="1874520" cy="274320"/>
          </a:xfrm>
          <a:prstGeom prst="rect">
            <a:avLst/>
          </a:prstGeom>
          <a:noFill/>
          <a:ln/>
        </p:spPr>
        <p:txBody>
          <a:bodyPr wrap="square" lIns="0" tIns="0" rIns="0" bIns="0" rtlCol="0" anchor="ctr"/>
          <a:lstStyle/>
          <a:p>
            <a:pPr algn="ctr" indent="0" marL="0">
              <a:buNone/>
            </a:pPr>
            <a:r>
              <a:rPr lang="en-US" sz="1200" dirty="0">
                <a:solidFill>
                  <a:srgbClr val="CBD5E1"/>
                </a:solidFill>
                <a:latin typeface="Calibri" pitchFamily="34" charset="0"/>
                <a:ea typeface="Calibri" pitchFamily="34" charset="-122"/>
                <a:cs typeface="Calibri" pitchFamily="34" charset="-120"/>
              </a:rPr>
              <a:t>Delivered on time</a:t>
            </a:r>
            <a:endParaRPr lang="en-US" sz="1200" dirty="0"/>
          </a:p>
        </p:txBody>
      </p:sp>
      <p:sp>
        <p:nvSpPr>
          <p:cNvPr id="13" name="Stat card 4"/>
          <p:cNvSpPr/>
          <p:nvPr/>
        </p:nvSpPr>
        <p:spPr>
          <a:xfrm>
            <a:off x="6720840" y="2423160"/>
            <a:ext cx="1874520" cy="1097280"/>
          </a:xfrm>
          <a:prstGeom prst="roundRect">
            <a:avLst>
              <a:gd name="adj" fmla="val 6667"/>
            </a:avLst>
          </a:prstGeom>
          <a:solidFill>
            <a:srgbClr val="FFFFFF">
              <a:alpha val="10000"/>
            </a:srgbClr>
          </a:solidFill>
          <a:ln w="6350">
            <a:solidFill>
              <a:srgbClr val="FFFFFF">
                <a:alpha val="40000"/>
              </a:srgbClr>
            </a:solidFill>
            <a:prstDash val="solid"/>
          </a:ln>
        </p:spPr>
      </p:sp>
      <p:sp>
        <p:nvSpPr>
          <p:cNvPr id="14" name="Text 12"/>
          <p:cNvSpPr txBox="1"/>
          <p:nvPr/>
        </p:nvSpPr>
        <p:spPr>
          <a:xfrm>
            <a:off x="6720840" y="2542032"/>
            <a:ext cx="1874520" cy="548640"/>
          </a:xfrm>
          <a:prstGeom prst="rect">
            <a:avLst/>
          </a:prstGeom>
          <a:noFill/>
          <a:ln/>
        </p:spPr>
        <p:txBody>
          <a:bodyPr wrap="square" lIns="0" tIns="0" rIns="0" bIns="0" rtlCol="0" anchor="ctr"/>
          <a:lstStyle/>
          <a:p>
            <a:pPr algn="ctr" indent="0" marL="0">
              <a:buNone/>
            </a:pPr>
            <a:r>
              <a:rPr lang="en-US" sz="3000" b="1" dirty="0">
                <a:solidFill>
                  <a:srgbClr val="FFFFFF"/>
                </a:solidFill>
                <a:latin typeface="Cambria" pitchFamily="34" charset="0"/>
                <a:ea typeface="Cambria" pitchFamily="34" charset="-122"/>
                <a:cs typeface="Cambria" pitchFamily="34" charset="-120"/>
              </a:rPr>
              <a:t>4.09</a:t>
            </a:r>
            <a:endParaRPr lang="en-US" sz="3000" dirty="0"/>
          </a:p>
        </p:txBody>
      </p:sp>
      <p:sp>
        <p:nvSpPr>
          <p:cNvPr id="15" name="Text 13"/>
          <p:cNvSpPr txBox="1"/>
          <p:nvPr/>
        </p:nvSpPr>
        <p:spPr>
          <a:xfrm>
            <a:off x="6720840" y="3127248"/>
            <a:ext cx="1874520" cy="274320"/>
          </a:xfrm>
          <a:prstGeom prst="rect">
            <a:avLst/>
          </a:prstGeom>
          <a:noFill/>
          <a:ln/>
        </p:spPr>
        <p:txBody>
          <a:bodyPr wrap="square" lIns="0" tIns="0" rIns="0" bIns="0" rtlCol="0" anchor="ctr"/>
          <a:lstStyle/>
          <a:p>
            <a:pPr algn="ctr" indent="0" marL="0">
              <a:buNone/>
            </a:pPr>
            <a:r>
              <a:rPr lang="en-US" sz="1200" dirty="0">
                <a:solidFill>
                  <a:srgbClr val="CBD5E1"/>
                </a:solidFill>
                <a:latin typeface="Calibri" pitchFamily="34" charset="0"/>
                <a:ea typeface="Calibri" pitchFamily="34" charset="-122"/>
                <a:cs typeface="Calibri" pitchFamily="34" charset="-120"/>
              </a:rPr>
              <a:t>Average review (1-5)</a:t>
            </a:r>
            <a:endParaRPr lang="en-US" sz="1200" dirty="0"/>
          </a:p>
        </p:txBody>
      </p:sp>
      <p:sp>
        <p:nvSpPr>
          <p:cNvPr id="16" name="Text 14"/>
          <p:cNvSpPr txBox="1"/>
          <p:nvPr/>
        </p:nvSpPr>
        <p:spPr>
          <a:xfrm>
            <a:off x="548640" y="3840480"/>
            <a:ext cx="8046720" cy="640080"/>
          </a:xfrm>
          <a:prstGeom prst="rect">
            <a:avLst/>
          </a:prstGeom>
          <a:noFill/>
          <a:ln/>
        </p:spPr>
        <p:txBody>
          <a:bodyPr wrap="square" lIns="0" tIns="0" rIns="0" bIns="0" rtlCol="0" anchor="t"/>
          <a:lstStyle/>
          <a:p>
            <a:pPr indent="0" marL="0">
              <a:buNone/>
            </a:pPr>
            <a:r>
              <a:rPr lang="en-US" sz="1500" b="1" dirty="0">
                <a:solidFill>
                  <a:srgbClr val="5EEAD4"/>
                </a:solidFill>
                <a:latin typeface="Calibri" pitchFamily="34" charset="0"/>
                <a:ea typeface="Calibri" pitchFamily="34" charset="-122"/>
                <a:cs typeface="Calibri" pitchFamily="34" charset="-120"/>
              </a:rPr>
              <a:t>Short answer: </a:t>
            </a:r>
            <a:pPr indent="0" marL="0">
              <a:buNone/>
            </a:pPr>
            <a:r>
              <a:rPr lang="en-US" sz="1500" dirty="0">
                <a:solidFill>
                  <a:srgbClr val="FFFFFF"/>
                </a:solidFill>
                <a:latin typeface="Calibri" pitchFamily="34" charset="0"/>
                <a:ea typeface="Calibri" pitchFamily="34" charset="-122"/>
                <a:cs typeface="Calibri" pitchFamily="34" charset="-120"/>
              </a:rPr>
              <a:t>late delivery is the biggest leak we can control. It is rare (6.8% of orders) but it cuts review scores by about 2 stars.</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868680"/>
          </a:xfrm>
          <a:prstGeom prst="rect">
            <a:avLst/>
          </a:prstGeom>
          <a:noFill/>
          <a:ln/>
        </p:spPr>
        <p:txBody>
          <a:bodyPr wrap="square" lIns="0" tIns="0" rIns="0" bIns="0" rtlCol="0" anchor="t"/>
          <a:lstStyle/>
          <a:p>
            <a:pPr algn="l" indent="0" marL="0">
              <a:buNone/>
            </a:pPr>
            <a:r>
              <a:rPr lang="en-US" sz="2400" b="1" dirty="0">
                <a:solidFill>
                  <a:srgbClr val="1F3864"/>
                </a:solidFill>
                <a:latin typeface="Cambria" pitchFamily="34" charset="0"/>
                <a:ea typeface="Cambria" pitchFamily="34" charset="-122"/>
                <a:cs typeface="Cambria" pitchFamily="34" charset="-120"/>
              </a:rPr>
              <a:t>We followed every order from sale to customer feedback, using real data only</a:t>
            </a:r>
            <a:endParaRPr lang="en-US" sz="2400" dirty="0"/>
          </a:p>
        </p:txBody>
      </p:sp>
      <p:sp>
        <p:nvSpPr>
          <p:cNvPr id="3" name="Step card 1"/>
          <p:cNvSpPr/>
          <p:nvPr/>
        </p:nvSpPr>
        <p:spPr>
          <a:xfrm>
            <a:off x="457200" y="1325880"/>
            <a:ext cx="1920240" cy="2011680"/>
          </a:xfrm>
          <a:prstGeom prst="roundRect">
            <a:avLst>
              <a:gd name="adj" fmla="val 3810"/>
            </a:avLst>
          </a:prstGeom>
          <a:solidFill>
            <a:schemeClr val="bg2"/>
          </a:solidFill>
          <a:ln w="9525">
            <a:solidFill>
              <a:srgbClr val="E5E7EB"/>
            </a:solidFill>
            <a:prstDash val="solid"/>
          </a:ln>
        </p:spPr>
      </p:sp>
      <p:sp>
        <p:nvSpPr>
          <p:cNvPr id="4" name="Text 2"/>
          <p:cNvSpPr txBox="1"/>
          <p:nvPr/>
        </p:nvSpPr>
        <p:spPr>
          <a:xfrm>
            <a:off x="594360" y="1417320"/>
            <a:ext cx="1645920" cy="365760"/>
          </a:xfrm>
          <a:prstGeom prst="rect">
            <a:avLst/>
          </a:prstGeom>
          <a:noFill/>
          <a:ln/>
        </p:spPr>
        <p:txBody>
          <a:bodyPr wrap="square" lIns="0" tIns="0" rIns="0" bIns="0" rtlCol="0" anchor="ctr"/>
          <a:lstStyle/>
          <a:p>
            <a:pPr indent="0" marL="0">
              <a:buNone/>
            </a:pPr>
            <a:r>
              <a:rPr lang="en-US" sz="1400" b="1" dirty="0">
                <a:solidFill>
                  <a:schemeClr val="accent1"/>
                </a:solidFill>
                <a:latin typeface="Cambria" pitchFamily="34" charset="0"/>
                <a:ea typeface="Cambria" pitchFamily="34" charset="-122"/>
                <a:cs typeface="Cambria" pitchFamily="34" charset="-120"/>
              </a:rPr>
              <a:t>1  Sales order</a:t>
            </a:r>
            <a:endParaRPr lang="en-US" sz="1400" dirty="0"/>
          </a:p>
        </p:txBody>
      </p:sp>
      <p:sp>
        <p:nvSpPr>
          <p:cNvPr id="5" name="Text 3"/>
          <p:cNvSpPr txBox="1"/>
          <p:nvPr/>
        </p:nvSpPr>
        <p:spPr>
          <a:xfrm>
            <a:off x="594360" y="1810512"/>
            <a:ext cx="1645920" cy="502920"/>
          </a:xfrm>
          <a:prstGeom prst="rect">
            <a:avLst/>
          </a:prstGeom>
          <a:noFill/>
          <a:ln/>
        </p:spPr>
        <p:txBody>
          <a:bodyPr wrap="square" lIns="0" tIns="0" rIns="0" bIns="0" rtlCol="0" anchor="t"/>
          <a:lstStyle/>
          <a:p>
            <a:pPr indent="0" marL="0">
              <a:buNone/>
            </a:pPr>
            <a:r>
              <a:rPr lang="en-US" sz="1100" dirty="0">
                <a:solidFill>
                  <a:schemeClr val="tx1"/>
                </a:solidFill>
                <a:latin typeface="Calibri" pitchFamily="34" charset="0"/>
                <a:ea typeface="Calibri" pitchFamily="34" charset="-122"/>
                <a:cs typeface="Calibri" pitchFamily="34" charset="-120"/>
              </a:rPr>
              <a:t>Orders and order lines</a:t>
            </a:r>
            <a:endParaRPr lang="en-US" sz="1100" dirty="0"/>
          </a:p>
        </p:txBody>
      </p:sp>
      <p:sp>
        <p:nvSpPr>
          <p:cNvPr id="6" name="Text 4"/>
          <p:cNvSpPr txBox="1"/>
          <p:nvPr/>
        </p:nvSpPr>
        <p:spPr>
          <a:xfrm>
            <a:off x="594360" y="2331720"/>
            <a:ext cx="1645920" cy="274320"/>
          </a:xfrm>
          <a:prstGeom prst="rect">
            <a:avLst/>
          </a:prstGeom>
          <a:noFill/>
          <a:ln/>
        </p:spPr>
        <p:txBody>
          <a:bodyPr wrap="square" lIns="0" tIns="0" rIns="0" bIns="0" rtlCol="0" anchor="ctr"/>
          <a:lstStyle/>
          <a:p>
            <a:pPr indent="0" marL="0">
              <a:buNone/>
            </a:pPr>
            <a:r>
              <a:rPr lang="en-US" sz="1000" b="1" dirty="0">
                <a:solidFill>
                  <a:schemeClr val="accent4"/>
                </a:solidFill>
                <a:latin typeface="Calibri" pitchFamily="34" charset="0"/>
                <a:ea typeface="Calibri" pitchFamily="34" charset="-122"/>
                <a:cs typeface="Calibri" pitchFamily="34" charset="-120"/>
              </a:rPr>
              <a:t>SAP SD: sales order</a:t>
            </a:r>
            <a:endParaRPr lang="en-US" sz="1000" dirty="0"/>
          </a:p>
        </p:txBody>
      </p:sp>
      <p:sp>
        <p:nvSpPr>
          <p:cNvPr id="7" name="Text 5"/>
          <p:cNvSpPr txBox="1"/>
          <p:nvPr/>
        </p:nvSpPr>
        <p:spPr>
          <a:xfrm>
            <a:off x="594360" y="2633472"/>
            <a:ext cx="1645920" cy="594360"/>
          </a:xfrm>
          <a:prstGeom prst="rect">
            <a:avLst/>
          </a:prstGeom>
          <a:noFill/>
          <a:ln/>
        </p:spPr>
        <p:txBody>
          <a:bodyPr wrap="square" lIns="0" tIns="0" rIns="0" bIns="0" rtlCol="0" anchor="t"/>
          <a:lstStyle/>
          <a:p>
            <a:pPr indent="0" marL="0">
              <a:buNone/>
            </a:pPr>
            <a:r>
              <a:rPr lang="en-US" sz="1050" dirty="0">
                <a:solidFill>
                  <a:schemeClr val="tx1"/>
                </a:solidFill>
                <a:latin typeface="Calibri" pitchFamily="34" charset="0"/>
                <a:ea typeface="Calibri" pitchFamily="34" charset="-122"/>
                <a:cs typeface="Calibri" pitchFamily="34" charset="-120"/>
              </a:rPr>
              <a:t>Measured: Revenue, orders, category mix</a:t>
            </a:r>
            <a:endParaRPr lang="en-US" sz="1050" dirty="0"/>
          </a:p>
        </p:txBody>
      </p:sp>
      <p:sp>
        <p:nvSpPr>
          <p:cNvPr id="8" name="Step card 2"/>
          <p:cNvSpPr/>
          <p:nvPr/>
        </p:nvSpPr>
        <p:spPr>
          <a:xfrm>
            <a:off x="2542032" y="1325880"/>
            <a:ext cx="1920240" cy="2011680"/>
          </a:xfrm>
          <a:prstGeom prst="roundRect">
            <a:avLst>
              <a:gd name="adj" fmla="val 3810"/>
            </a:avLst>
          </a:prstGeom>
          <a:solidFill>
            <a:schemeClr val="bg2"/>
          </a:solidFill>
          <a:ln w="9525">
            <a:solidFill>
              <a:srgbClr val="E5E7EB"/>
            </a:solidFill>
            <a:prstDash val="solid"/>
          </a:ln>
        </p:spPr>
      </p:sp>
      <p:sp>
        <p:nvSpPr>
          <p:cNvPr id="9" name="Text 7"/>
          <p:cNvSpPr txBox="1"/>
          <p:nvPr/>
        </p:nvSpPr>
        <p:spPr>
          <a:xfrm>
            <a:off x="2679192" y="1417320"/>
            <a:ext cx="1645920" cy="365760"/>
          </a:xfrm>
          <a:prstGeom prst="rect">
            <a:avLst/>
          </a:prstGeom>
          <a:noFill/>
          <a:ln/>
        </p:spPr>
        <p:txBody>
          <a:bodyPr wrap="square" lIns="0" tIns="0" rIns="0" bIns="0" rtlCol="0" anchor="ctr"/>
          <a:lstStyle/>
          <a:p>
            <a:pPr indent="0" marL="0">
              <a:buNone/>
            </a:pPr>
            <a:r>
              <a:rPr lang="en-US" sz="1400" b="1" dirty="0">
                <a:solidFill>
                  <a:schemeClr val="accent1"/>
                </a:solidFill>
                <a:latin typeface="Cambria" pitchFamily="34" charset="0"/>
                <a:ea typeface="Cambria" pitchFamily="34" charset="-122"/>
                <a:cs typeface="Cambria" pitchFamily="34" charset="-120"/>
              </a:rPr>
              <a:t>2  Delivery</a:t>
            </a:r>
            <a:endParaRPr lang="en-US" sz="1400" dirty="0"/>
          </a:p>
        </p:txBody>
      </p:sp>
      <p:sp>
        <p:nvSpPr>
          <p:cNvPr id="10" name="Text 8"/>
          <p:cNvSpPr txBox="1"/>
          <p:nvPr/>
        </p:nvSpPr>
        <p:spPr>
          <a:xfrm>
            <a:off x="2679192" y="1810512"/>
            <a:ext cx="1645920" cy="502920"/>
          </a:xfrm>
          <a:prstGeom prst="rect">
            <a:avLst/>
          </a:prstGeom>
          <a:noFill/>
          <a:ln/>
        </p:spPr>
        <p:txBody>
          <a:bodyPr wrap="square" lIns="0" tIns="0" rIns="0" bIns="0" rtlCol="0" anchor="t"/>
          <a:lstStyle/>
          <a:p>
            <a:pPr indent="0" marL="0">
              <a:buNone/>
            </a:pPr>
            <a:r>
              <a:rPr lang="en-US" sz="1100" dirty="0">
                <a:solidFill>
                  <a:schemeClr val="tx1"/>
                </a:solidFill>
                <a:latin typeface="Calibri" pitchFamily="34" charset="0"/>
                <a:ea typeface="Calibri" pitchFamily="34" charset="-122"/>
                <a:cs typeface="Calibri" pitchFamily="34" charset="-120"/>
              </a:rPr>
              <a:t>Shipping and delivery dates vs promised date</a:t>
            </a:r>
            <a:endParaRPr lang="en-US" sz="1100" dirty="0"/>
          </a:p>
        </p:txBody>
      </p:sp>
      <p:sp>
        <p:nvSpPr>
          <p:cNvPr id="11" name="Text 9"/>
          <p:cNvSpPr txBox="1"/>
          <p:nvPr/>
        </p:nvSpPr>
        <p:spPr>
          <a:xfrm>
            <a:off x="2679192" y="2331720"/>
            <a:ext cx="1645920" cy="274320"/>
          </a:xfrm>
          <a:prstGeom prst="rect">
            <a:avLst/>
          </a:prstGeom>
          <a:noFill/>
          <a:ln/>
        </p:spPr>
        <p:txBody>
          <a:bodyPr wrap="square" lIns="0" tIns="0" rIns="0" bIns="0" rtlCol="0" anchor="ctr"/>
          <a:lstStyle/>
          <a:p>
            <a:pPr indent="0" marL="0">
              <a:buNone/>
            </a:pPr>
            <a:r>
              <a:rPr lang="en-US" sz="1000" b="1" dirty="0">
                <a:solidFill>
                  <a:schemeClr val="accent4"/>
                </a:solidFill>
                <a:latin typeface="Calibri" pitchFamily="34" charset="0"/>
                <a:ea typeface="Calibri" pitchFamily="34" charset="-122"/>
                <a:cs typeface="Calibri" pitchFamily="34" charset="-120"/>
              </a:rPr>
              <a:t>SAP SD: delivery</a:t>
            </a:r>
            <a:endParaRPr lang="en-US" sz="1000" dirty="0"/>
          </a:p>
        </p:txBody>
      </p:sp>
      <p:sp>
        <p:nvSpPr>
          <p:cNvPr id="12" name="Text 10"/>
          <p:cNvSpPr txBox="1"/>
          <p:nvPr/>
        </p:nvSpPr>
        <p:spPr>
          <a:xfrm>
            <a:off x="2679192" y="2633472"/>
            <a:ext cx="1645920" cy="594360"/>
          </a:xfrm>
          <a:prstGeom prst="rect">
            <a:avLst/>
          </a:prstGeom>
          <a:noFill/>
          <a:ln/>
        </p:spPr>
        <p:txBody>
          <a:bodyPr wrap="square" lIns="0" tIns="0" rIns="0" bIns="0" rtlCol="0" anchor="t"/>
          <a:lstStyle/>
          <a:p>
            <a:pPr indent="0" marL="0">
              <a:buNone/>
            </a:pPr>
            <a:r>
              <a:rPr lang="en-US" sz="1050" dirty="0">
                <a:solidFill>
                  <a:schemeClr val="tx1"/>
                </a:solidFill>
                <a:latin typeface="Calibri" pitchFamily="34" charset="0"/>
                <a:ea typeface="Calibri" pitchFamily="34" charset="-122"/>
                <a:cs typeface="Calibri" pitchFamily="34" charset="-120"/>
              </a:rPr>
              <a:t>Measured: Days to deliver, % late by state and seller</a:t>
            </a:r>
            <a:endParaRPr lang="en-US" sz="1050" dirty="0"/>
          </a:p>
        </p:txBody>
      </p:sp>
      <p:sp>
        <p:nvSpPr>
          <p:cNvPr id="13" name="Step card 3"/>
          <p:cNvSpPr/>
          <p:nvPr/>
        </p:nvSpPr>
        <p:spPr>
          <a:xfrm>
            <a:off x="4626864" y="1325880"/>
            <a:ext cx="1920240" cy="2011680"/>
          </a:xfrm>
          <a:prstGeom prst="roundRect">
            <a:avLst>
              <a:gd name="adj" fmla="val 3810"/>
            </a:avLst>
          </a:prstGeom>
          <a:solidFill>
            <a:schemeClr val="bg2"/>
          </a:solidFill>
          <a:ln w="9525">
            <a:solidFill>
              <a:srgbClr val="E5E7EB"/>
            </a:solidFill>
            <a:prstDash val="solid"/>
          </a:ln>
        </p:spPr>
      </p:sp>
      <p:sp>
        <p:nvSpPr>
          <p:cNvPr id="14" name="Text 12"/>
          <p:cNvSpPr txBox="1"/>
          <p:nvPr/>
        </p:nvSpPr>
        <p:spPr>
          <a:xfrm>
            <a:off x="4764024" y="1417320"/>
            <a:ext cx="1645920" cy="365760"/>
          </a:xfrm>
          <a:prstGeom prst="rect">
            <a:avLst/>
          </a:prstGeom>
          <a:noFill/>
          <a:ln/>
        </p:spPr>
        <p:txBody>
          <a:bodyPr wrap="square" lIns="0" tIns="0" rIns="0" bIns="0" rtlCol="0" anchor="ctr"/>
          <a:lstStyle/>
          <a:p>
            <a:pPr indent="0" marL="0">
              <a:buNone/>
            </a:pPr>
            <a:r>
              <a:rPr lang="en-US" sz="1400" b="1" dirty="0">
                <a:solidFill>
                  <a:schemeClr val="accent1"/>
                </a:solidFill>
                <a:latin typeface="Cambria" pitchFamily="34" charset="0"/>
                <a:ea typeface="Cambria" pitchFamily="34" charset="-122"/>
                <a:cs typeface="Cambria" pitchFamily="34" charset="-120"/>
              </a:rPr>
              <a:t>3  Payment</a:t>
            </a:r>
            <a:endParaRPr lang="en-US" sz="1400" dirty="0"/>
          </a:p>
        </p:txBody>
      </p:sp>
      <p:sp>
        <p:nvSpPr>
          <p:cNvPr id="15" name="Text 13"/>
          <p:cNvSpPr txBox="1"/>
          <p:nvPr/>
        </p:nvSpPr>
        <p:spPr>
          <a:xfrm>
            <a:off x="4764024" y="1810512"/>
            <a:ext cx="1645920" cy="502920"/>
          </a:xfrm>
          <a:prstGeom prst="rect">
            <a:avLst/>
          </a:prstGeom>
          <a:noFill/>
          <a:ln/>
        </p:spPr>
        <p:txBody>
          <a:bodyPr wrap="square" lIns="0" tIns="0" rIns="0" bIns="0" rtlCol="0" anchor="t"/>
          <a:lstStyle/>
          <a:p>
            <a:pPr indent="0" marL="0">
              <a:buNone/>
            </a:pPr>
            <a:r>
              <a:rPr lang="en-US" sz="1100" dirty="0">
                <a:solidFill>
                  <a:schemeClr val="tx1"/>
                </a:solidFill>
                <a:latin typeface="Calibri" pitchFamily="34" charset="0"/>
                <a:ea typeface="Calibri" pitchFamily="34" charset="-122"/>
                <a:cs typeface="Calibri" pitchFamily="34" charset="-120"/>
              </a:rPr>
              <a:t>Payment method, instalments, amount</a:t>
            </a:r>
            <a:endParaRPr lang="en-US" sz="1100" dirty="0"/>
          </a:p>
        </p:txBody>
      </p:sp>
      <p:sp>
        <p:nvSpPr>
          <p:cNvPr id="16" name="Text 14"/>
          <p:cNvSpPr txBox="1"/>
          <p:nvPr/>
        </p:nvSpPr>
        <p:spPr>
          <a:xfrm>
            <a:off x="4764024" y="2331720"/>
            <a:ext cx="1645920" cy="274320"/>
          </a:xfrm>
          <a:prstGeom prst="rect">
            <a:avLst/>
          </a:prstGeom>
          <a:noFill/>
          <a:ln/>
        </p:spPr>
        <p:txBody>
          <a:bodyPr wrap="square" lIns="0" tIns="0" rIns="0" bIns="0" rtlCol="0" anchor="ctr"/>
          <a:lstStyle/>
          <a:p>
            <a:pPr indent="0" marL="0">
              <a:buNone/>
            </a:pPr>
            <a:r>
              <a:rPr lang="en-US" sz="1000" b="1" dirty="0">
                <a:solidFill>
                  <a:schemeClr val="accent4"/>
                </a:solidFill>
                <a:latin typeface="Calibri" pitchFamily="34" charset="0"/>
                <a:ea typeface="Calibri" pitchFamily="34" charset="-122"/>
                <a:cs typeface="Calibri" pitchFamily="34" charset="-120"/>
              </a:rPr>
              <a:t>SAP SD: billing and payment</a:t>
            </a:r>
            <a:endParaRPr lang="en-US" sz="1000" dirty="0"/>
          </a:p>
        </p:txBody>
      </p:sp>
      <p:sp>
        <p:nvSpPr>
          <p:cNvPr id="17" name="Text 15"/>
          <p:cNvSpPr txBox="1"/>
          <p:nvPr/>
        </p:nvSpPr>
        <p:spPr>
          <a:xfrm>
            <a:off x="4764024" y="2633472"/>
            <a:ext cx="1645920" cy="594360"/>
          </a:xfrm>
          <a:prstGeom prst="rect">
            <a:avLst/>
          </a:prstGeom>
          <a:noFill/>
          <a:ln/>
        </p:spPr>
        <p:txBody>
          <a:bodyPr wrap="square" lIns="0" tIns="0" rIns="0" bIns="0" rtlCol="0" anchor="t"/>
          <a:lstStyle/>
          <a:p>
            <a:pPr indent="0" marL="0">
              <a:buNone/>
            </a:pPr>
            <a:r>
              <a:rPr lang="en-US" sz="1050" dirty="0">
                <a:solidFill>
                  <a:schemeClr val="tx1"/>
                </a:solidFill>
                <a:latin typeface="Calibri" pitchFamily="34" charset="0"/>
                <a:ea typeface="Calibri" pitchFamily="34" charset="-122"/>
                <a:cs typeface="Calibri" pitchFamily="34" charset="-120"/>
              </a:rPr>
              <a:t>Measured: Payment mix, average order value</a:t>
            </a:r>
            <a:endParaRPr lang="en-US" sz="1050" dirty="0"/>
          </a:p>
        </p:txBody>
      </p:sp>
      <p:sp>
        <p:nvSpPr>
          <p:cNvPr id="18" name="Step card 4"/>
          <p:cNvSpPr/>
          <p:nvPr/>
        </p:nvSpPr>
        <p:spPr>
          <a:xfrm>
            <a:off x="6711696" y="1325880"/>
            <a:ext cx="1920240" cy="2011680"/>
          </a:xfrm>
          <a:prstGeom prst="roundRect">
            <a:avLst>
              <a:gd name="adj" fmla="val 3810"/>
            </a:avLst>
          </a:prstGeom>
          <a:solidFill>
            <a:schemeClr val="bg2"/>
          </a:solidFill>
          <a:ln w="9525">
            <a:solidFill>
              <a:srgbClr val="E5E7EB"/>
            </a:solidFill>
            <a:prstDash val="solid"/>
          </a:ln>
        </p:spPr>
      </p:sp>
      <p:sp>
        <p:nvSpPr>
          <p:cNvPr id="19" name="Text 17"/>
          <p:cNvSpPr txBox="1"/>
          <p:nvPr/>
        </p:nvSpPr>
        <p:spPr>
          <a:xfrm>
            <a:off x="6848856" y="1417320"/>
            <a:ext cx="1645920" cy="365760"/>
          </a:xfrm>
          <a:prstGeom prst="rect">
            <a:avLst/>
          </a:prstGeom>
          <a:noFill/>
          <a:ln/>
        </p:spPr>
        <p:txBody>
          <a:bodyPr wrap="square" lIns="0" tIns="0" rIns="0" bIns="0" rtlCol="0" anchor="ctr"/>
          <a:lstStyle/>
          <a:p>
            <a:pPr indent="0" marL="0">
              <a:buNone/>
            </a:pPr>
            <a:r>
              <a:rPr lang="en-US" sz="1400" b="1" dirty="0">
                <a:solidFill>
                  <a:schemeClr val="accent1"/>
                </a:solidFill>
                <a:latin typeface="Cambria" pitchFamily="34" charset="0"/>
                <a:ea typeface="Cambria" pitchFamily="34" charset="-122"/>
                <a:cs typeface="Cambria" pitchFamily="34" charset="-120"/>
              </a:rPr>
              <a:t>4  Feedback</a:t>
            </a:r>
            <a:endParaRPr lang="en-US" sz="1400" dirty="0"/>
          </a:p>
        </p:txBody>
      </p:sp>
      <p:sp>
        <p:nvSpPr>
          <p:cNvPr id="20" name="Text 18"/>
          <p:cNvSpPr txBox="1"/>
          <p:nvPr/>
        </p:nvSpPr>
        <p:spPr>
          <a:xfrm>
            <a:off x="6848856" y="1810512"/>
            <a:ext cx="1645920" cy="502920"/>
          </a:xfrm>
          <a:prstGeom prst="rect">
            <a:avLst/>
          </a:prstGeom>
          <a:noFill/>
          <a:ln/>
        </p:spPr>
        <p:txBody>
          <a:bodyPr wrap="square" lIns="0" tIns="0" rIns="0" bIns="0" rtlCol="0" anchor="t"/>
          <a:lstStyle/>
          <a:p>
            <a:pPr indent="0" marL="0">
              <a:buNone/>
            </a:pPr>
            <a:r>
              <a:rPr lang="en-US" sz="1100" dirty="0">
                <a:solidFill>
                  <a:schemeClr val="tx1"/>
                </a:solidFill>
                <a:latin typeface="Calibri" pitchFamily="34" charset="0"/>
                <a:ea typeface="Calibri" pitchFamily="34" charset="-122"/>
                <a:cs typeface="Calibri" pitchFamily="34" charset="-120"/>
              </a:rPr>
              <a:t>Review score 1-5 per order</a:t>
            </a:r>
            <a:endParaRPr lang="en-US" sz="1100" dirty="0"/>
          </a:p>
        </p:txBody>
      </p:sp>
      <p:sp>
        <p:nvSpPr>
          <p:cNvPr id="21" name="Text 19"/>
          <p:cNvSpPr txBox="1"/>
          <p:nvPr/>
        </p:nvSpPr>
        <p:spPr>
          <a:xfrm>
            <a:off x="6848856" y="2331720"/>
            <a:ext cx="1645920" cy="274320"/>
          </a:xfrm>
          <a:prstGeom prst="rect">
            <a:avLst/>
          </a:prstGeom>
          <a:noFill/>
          <a:ln/>
        </p:spPr>
        <p:txBody>
          <a:bodyPr wrap="square" lIns="0" tIns="0" rIns="0" bIns="0" rtlCol="0" anchor="ctr"/>
          <a:lstStyle/>
          <a:p>
            <a:pPr indent="0" marL="0">
              <a:buNone/>
            </a:pPr>
            <a:r>
              <a:rPr lang="en-US" sz="1000" b="1" dirty="0">
                <a:solidFill>
                  <a:schemeClr val="accent4"/>
                </a:solidFill>
                <a:latin typeface="Calibri" pitchFamily="34" charset="0"/>
                <a:ea typeface="Calibri" pitchFamily="34" charset="-122"/>
                <a:cs typeface="Calibri" pitchFamily="34" charset="-120"/>
              </a:rPr>
              <a:t>Customer satisfaction</a:t>
            </a:r>
            <a:endParaRPr lang="en-US" sz="1000" dirty="0"/>
          </a:p>
        </p:txBody>
      </p:sp>
      <p:sp>
        <p:nvSpPr>
          <p:cNvPr id="22" name="Text 20"/>
          <p:cNvSpPr txBox="1"/>
          <p:nvPr/>
        </p:nvSpPr>
        <p:spPr>
          <a:xfrm>
            <a:off x="6848856" y="2633472"/>
            <a:ext cx="1645920" cy="594360"/>
          </a:xfrm>
          <a:prstGeom prst="rect">
            <a:avLst/>
          </a:prstGeom>
          <a:noFill/>
          <a:ln/>
        </p:spPr>
        <p:txBody>
          <a:bodyPr wrap="square" lIns="0" tIns="0" rIns="0" bIns="0" rtlCol="0" anchor="t"/>
          <a:lstStyle/>
          <a:p>
            <a:pPr indent="0" marL="0">
              <a:buNone/>
            </a:pPr>
            <a:r>
              <a:rPr lang="en-US" sz="1050" dirty="0">
                <a:solidFill>
                  <a:schemeClr val="tx1"/>
                </a:solidFill>
                <a:latin typeface="Calibri" pitchFamily="34" charset="0"/>
                <a:ea typeface="Calibri" pitchFamily="34" charset="-122"/>
                <a:cs typeface="Calibri" pitchFamily="34" charset="-120"/>
              </a:rPr>
              <a:t>Measured: Score for on-time vs late orders</a:t>
            </a:r>
            <a:endParaRPr lang="en-US" sz="1050" dirty="0"/>
          </a:p>
        </p:txBody>
      </p:sp>
      <p:sp>
        <p:nvSpPr>
          <p:cNvPr id="23" name="Text 21"/>
          <p:cNvSpPr txBox="1"/>
          <p:nvPr/>
        </p:nvSpPr>
        <p:spPr>
          <a:xfrm>
            <a:off x="457200" y="3566160"/>
            <a:ext cx="1554480" cy="411480"/>
          </a:xfrm>
          <a:prstGeom prst="rect">
            <a:avLst/>
          </a:prstGeom>
          <a:noFill/>
          <a:ln/>
        </p:spPr>
        <p:txBody>
          <a:bodyPr wrap="square" lIns="0" tIns="0" rIns="0" bIns="0" rtlCol="0" anchor="ctr"/>
          <a:lstStyle/>
          <a:p>
            <a:pPr indent="0" marL="0">
              <a:buNone/>
            </a:pPr>
            <a:r>
              <a:rPr lang="en-US" sz="2200" b="1" dirty="0">
                <a:solidFill>
                  <a:schemeClr val="tx2"/>
                </a:solidFill>
                <a:latin typeface="Cambria" pitchFamily="34" charset="0"/>
                <a:ea typeface="Cambria" pitchFamily="34" charset="-122"/>
                <a:cs typeface="Cambria" pitchFamily="34" charset="-120"/>
              </a:rPr>
              <a:t>99,441</a:t>
            </a:r>
            <a:endParaRPr lang="en-US" sz="2200" dirty="0"/>
          </a:p>
        </p:txBody>
      </p:sp>
      <p:sp>
        <p:nvSpPr>
          <p:cNvPr id="24" name="Text 22"/>
          <p:cNvSpPr txBox="1"/>
          <p:nvPr/>
        </p:nvSpPr>
        <p:spPr>
          <a:xfrm>
            <a:off x="457200" y="3977640"/>
            <a:ext cx="1554480" cy="274320"/>
          </a:xfrm>
          <a:prstGeom prst="rect">
            <a:avLst/>
          </a:prstGeom>
          <a:noFill/>
          <a:ln/>
        </p:spPr>
        <p:txBody>
          <a:bodyPr wrap="square" lIns="0" tIns="0" rIns="0" bIns="0" rtlCol="0" anchor="ctr"/>
          <a:lstStyle/>
          <a:p>
            <a:pPr indent="0" marL="0">
              <a:buNone/>
            </a:pPr>
            <a:r>
              <a:rPr lang="en-US" sz="1100" dirty="0">
                <a:solidFill>
                  <a:schemeClr val="accent4"/>
                </a:solidFill>
                <a:latin typeface="Calibri" pitchFamily="34" charset="0"/>
                <a:ea typeface="Calibri" pitchFamily="34" charset="-122"/>
                <a:cs typeface="Calibri" pitchFamily="34" charset="-120"/>
              </a:rPr>
              <a:t>orders in the data</a:t>
            </a:r>
            <a:endParaRPr lang="en-US" sz="1100" dirty="0"/>
          </a:p>
        </p:txBody>
      </p:sp>
      <p:sp>
        <p:nvSpPr>
          <p:cNvPr id="25" name="Text 23"/>
          <p:cNvSpPr txBox="1"/>
          <p:nvPr/>
        </p:nvSpPr>
        <p:spPr>
          <a:xfrm>
            <a:off x="2139696" y="3566160"/>
            <a:ext cx="1554480" cy="411480"/>
          </a:xfrm>
          <a:prstGeom prst="rect">
            <a:avLst/>
          </a:prstGeom>
          <a:noFill/>
          <a:ln/>
        </p:spPr>
        <p:txBody>
          <a:bodyPr wrap="square" lIns="0" tIns="0" rIns="0" bIns="0" rtlCol="0" anchor="ctr"/>
          <a:lstStyle/>
          <a:p>
            <a:pPr indent="0" marL="0">
              <a:buNone/>
            </a:pPr>
            <a:r>
              <a:rPr lang="en-US" sz="2200" b="1" dirty="0">
                <a:solidFill>
                  <a:schemeClr val="tx2"/>
                </a:solidFill>
                <a:latin typeface="Cambria" pitchFamily="34" charset="0"/>
                <a:ea typeface="Cambria" pitchFamily="34" charset="-122"/>
                <a:cs typeface="Cambria" pitchFamily="34" charset="-120"/>
              </a:rPr>
              <a:t>112,650</a:t>
            </a:r>
            <a:endParaRPr lang="en-US" sz="2200" dirty="0"/>
          </a:p>
        </p:txBody>
      </p:sp>
      <p:sp>
        <p:nvSpPr>
          <p:cNvPr id="26" name="Text 24"/>
          <p:cNvSpPr txBox="1"/>
          <p:nvPr/>
        </p:nvSpPr>
        <p:spPr>
          <a:xfrm>
            <a:off x="2139696" y="3977640"/>
            <a:ext cx="1554480" cy="274320"/>
          </a:xfrm>
          <a:prstGeom prst="rect">
            <a:avLst/>
          </a:prstGeom>
          <a:noFill/>
          <a:ln/>
        </p:spPr>
        <p:txBody>
          <a:bodyPr wrap="square" lIns="0" tIns="0" rIns="0" bIns="0" rtlCol="0" anchor="ctr"/>
          <a:lstStyle/>
          <a:p>
            <a:pPr indent="0" marL="0">
              <a:buNone/>
            </a:pPr>
            <a:r>
              <a:rPr lang="en-US" sz="1100" dirty="0">
                <a:solidFill>
                  <a:schemeClr val="accent4"/>
                </a:solidFill>
                <a:latin typeface="Calibri" pitchFamily="34" charset="0"/>
                <a:ea typeface="Calibri" pitchFamily="34" charset="-122"/>
                <a:cs typeface="Calibri" pitchFamily="34" charset="-120"/>
              </a:rPr>
              <a:t>order lines</a:t>
            </a:r>
            <a:endParaRPr lang="en-US" sz="1100" dirty="0"/>
          </a:p>
        </p:txBody>
      </p:sp>
      <p:sp>
        <p:nvSpPr>
          <p:cNvPr id="27" name="Text 25"/>
          <p:cNvSpPr txBox="1"/>
          <p:nvPr/>
        </p:nvSpPr>
        <p:spPr>
          <a:xfrm>
            <a:off x="3822192" y="3566160"/>
            <a:ext cx="1554480" cy="411480"/>
          </a:xfrm>
          <a:prstGeom prst="rect">
            <a:avLst/>
          </a:prstGeom>
          <a:noFill/>
          <a:ln/>
        </p:spPr>
        <p:txBody>
          <a:bodyPr wrap="square" lIns="0" tIns="0" rIns="0" bIns="0" rtlCol="0" anchor="ctr"/>
          <a:lstStyle/>
          <a:p>
            <a:pPr indent="0" marL="0">
              <a:buNone/>
            </a:pPr>
            <a:r>
              <a:rPr lang="en-US" sz="2200" b="1" dirty="0">
                <a:solidFill>
                  <a:schemeClr val="tx2"/>
                </a:solidFill>
                <a:latin typeface="Cambria" pitchFamily="34" charset="0"/>
                <a:ea typeface="Cambria" pitchFamily="34" charset="-122"/>
                <a:cs typeface="Cambria" pitchFamily="34" charset="-120"/>
              </a:rPr>
              <a:t>3,095</a:t>
            </a:r>
            <a:endParaRPr lang="en-US" sz="2200" dirty="0"/>
          </a:p>
        </p:txBody>
      </p:sp>
      <p:sp>
        <p:nvSpPr>
          <p:cNvPr id="28" name="Text 26"/>
          <p:cNvSpPr txBox="1"/>
          <p:nvPr/>
        </p:nvSpPr>
        <p:spPr>
          <a:xfrm>
            <a:off x="3822192" y="3977640"/>
            <a:ext cx="1554480" cy="274320"/>
          </a:xfrm>
          <a:prstGeom prst="rect">
            <a:avLst/>
          </a:prstGeom>
          <a:noFill/>
          <a:ln/>
        </p:spPr>
        <p:txBody>
          <a:bodyPr wrap="square" lIns="0" tIns="0" rIns="0" bIns="0" rtlCol="0" anchor="ctr"/>
          <a:lstStyle/>
          <a:p>
            <a:pPr indent="0" marL="0">
              <a:buNone/>
            </a:pPr>
            <a:r>
              <a:rPr lang="en-US" sz="1100" dirty="0">
                <a:solidFill>
                  <a:schemeClr val="accent4"/>
                </a:solidFill>
                <a:latin typeface="Calibri" pitchFamily="34" charset="0"/>
                <a:ea typeface="Calibri" pitchFamily="34" charset="-122"/>
                <a:cs typeface="Calibri" pitchFamily="34" charset="-120"/>
              </a:rPr>
              <a:t>sellers</a:t>
            </a:r>
            <a:endParaRPr lang="en-US" sz="1100" dirty="0"/>
          </a:p>
        </p:txBody>
      </p:sp>
      <p:sp>
        <p:nvSpPr>
          <p:cNvPr id="29" name="Text 27"/>
          <p:cNvSpPr txBox="1"/>
          <p:nvPr/>
        </p:nvSpPr>
        <p:spPr>
          <a:xfrm>
            <a:off x="5504688" y="3566160"/>
            <a:ext cx="1554480" cy="411480"/>
          </a:xfrm>
          <a:prstGeom prst="rect">
            <a:avLst/>
          </a:prstGeom>
          <a:noFill/>
          <a:ln/>
        </p:spPr>
        <p:txBody>
          <a:bodyPr wrap="square" lIns="0" tIns="0" rIns="0" bIns="0" rtlCol="0" anchor="ctr"/>
          <a:lstStyle/>
          <a:p>
            <a:pPr indent="0" marL="0">
              <a:buNone/>
            </a:pPr>
            <a:r>
              <a:rPr lang="en-US" sz="2200" b="1" dirty="0">
                <a:solidFill>
                  <a:schemeClr val="tx2"/>
                </a:solidFill>
                <a:latin typeface="Cambria" pitchFamily="34" charset="0"/>
                <a:ea typeface="Cambria" pitchFamily="34" charset="-122"/>
                <a:cs typeface="Cambria" pitchFamily="34" charset="-120"/>
              </a:rPr>
              <a:t>27</a:t>
            </a:r>
            <a:endParaRPr lang="en-US" sz="2200" dirty="0"/>
          </a:p>
        </p:txBody>
      </p:sp>
      <p:sp>
        <p:nvSpPr>
          <p:cNvPr id="30" name="Text 28"/>
          <p:cNvSpPr txBox="1"/>
          <p:nvPr/>
        </p:nvSpPr>
        <p:spPr>
          <a:xfrm>
            <a:off x="5504688" y="3977640"/>
            <a:ext cx="1554480" cy="274320"/>
          </a:xfrm>
          <a:prstGeom prst="rect">
            <a:avLst/>
          </a:prstGeom>
          <a:noFill/>
          <a:ln/>
        </p:spPr>
        <p:txBody>
          <a:bodyPr wrap="square" lIns="0" tIns="0" rIns="0" bIns="0" rtlCol="0" anchor="ctr"/>
          <a:lstStyle/>
          <a:p>
            <a:pPr indent="0" marL="0">
              <a:buNone/>
            </a:pPr>
            <a:r>
              <a:rPr lang="en-US" sz="1100" dirty="0">
                <a:solidFill>
                  <a:schemeClr val="accent4"/>
                </a:solidFill>
                <a:latin typeface="Calibri" pitchFamily="34" charset="0"/>
                <a:ea typeface="Calibri" pitchFamily="34" charset="-122"/>
                <a:cs typeface="Calibri" pitchFamily="34" charset="-120"/>
              </a:rPr>
              <a:t>customer states</a:t>
            </a:r>
            <a:endParaRPr lang="en-US" sz="1100" dirty="0"/>
          </a:p>
        </p:txBody>
      </p:sp>
      <p:sp>
        <p:nvSpPr>
          <p:cNvPr id="31" name="Text 29"/>
          <p:cNvSpPr txBox="1"/>
          <p:nvPr/>
        </p:nvSpPr>
        <p:spPr>
          <a:xfrm>
            <a:off x="7187184" y="3566160"/>
            <a:ext cx="1554480" cy="411480"/>
          </a:xfrm>
          <a:prstGeom prst="rect">
            <a:avLst/>
          </a:prstGeom>
          <a:noFill/>
          <a:ln/>
        </p:spPr>
        <p:txBody>
          <a:bodyPr wrap="square" lIns="0" tIns="0" rIns="0" bIns="0" rtlCol="0" anchor="ctr"/>
          <a:lstStyle/>
          <a:p>
            <a:pPr indent="0" marL="0">
              <a:buNone/>
            </a:pPr>
            <a:r>
              <a:rPr lang="en-US" sz="2200" b="1" dirty="0">
                <a:solidFill>
                  <a:schemeClr val="tx2"/>
                </a:solidFill>
                <a:latin typeface="Cambria" pitchFamily="34" charset="0"/>
                <a:ea typeface="Cambria" pitchFamily="34" charset="-122"/>
                <a:cs typeface="Cambria" pitchFamily="34" charset="-120"/>
              </a:rPr>
              <a:t>8</a:t>
            </a:r>
            <a:endParaRPr lang="en-US" sz="2200" dirty="0"/>
          </a:p>
        </p:txBody>
      </p:sp>
      <p:sp>
        <p:nvSpPr>
          <p:cNvPr id="32" name="Text 30"/>
          <p:cNvSpPr txBox="1"/>
          <p:nvPr/>
        </p:nvSpPr>
        <p:spPr>
          <a:xfrm>
            <a:off x="7187184" y="3977640"/>
            <a:ext cx="1554480" cy="274320"/>
          </a:xfrm>
          <a:prstGeom prst="rect">
            <a:avLst/>
          </a:prstGeom>
          <a:noFill/>
          <a:ln/>
        </p:spPr>
        <p:txBody>
          <a:bodyPr wrap="square" lIns="0" tIns="0" rIns="0" bIns="0" rtlCol="0" anchor="ctr"/>
          <a:lstStyle/>
          <a:p>
            <a:pPr indent="0" marL="0">
              <a:buNone/>
            </a:pPr>
            <a:r>
              <a:rPr lang="en-US" sz="1100" dirty="0">
                <a:solidFill>
                  <a:schemeClr val="accent4"/>
                </a:solidFill>
                <a:latin typeface="Calibri" pitchFamily="34" charset="0"/>
                <a:ea typeface="Calibri" pitchFamily="34" charset="-122"/>
                <a:cs typeface="Calibri" pitchFamily="34" charset="-120"/>
              </a:rPr>
              <a:t>SQL queries</a:t>
            </a:r>
            <a:endParaRPr lang="en-US" sz="1100" dirty="0"/>
          </a:p>
        </p:txBody>
      </p:sp>
      <p:sp>
        <p:nvSpPr>
          <p:cNvPr id="33" name="Text 31"/>
          <p:cNvSpPr txBox="1"/>
          <p:nvPr/>
        </p:nvSpPr>
        <p:spPr>
          <a:xfrm>
            <a:off x="457200" y="4389120"/>
            <a:ext cx="7498080" cy="274320"/>
          </a:xfrm>
          <a:prstGeom prst="rect">
            <a:avLst/>
          </a:prstGeom>
          <a:noFill/>
          <a:ln/>
        </p:spPr>
        <p:txBody>
          <a:bodyPr wrap="square" lIns="0" tIns="0" rIns="0" bIns="0" rtlCol="0" anchor="ctr"/>
          <a:lstStyle/>
          <a:p>
            <a:pPr indent="0" marL="0">
              <a:buNone/>
            </a:pPr>
            <a:r>
              <a:rPr lang="en-US" sz="1100" i="1" dirty="0">
                <a:solidFill>
                  <a:schemeClr val="tx1"/>
                </a:solidFill>
                <a:latin typeface="Calibri" pitchFamily="34" charset="0"/>
                <a:ea typeface="Calibri" pitchFamily="34" charset="-122"/>
                <a:cs typeface="Calibri" pitchFamily="34" charset="-120"/>
              </a:rPr>
              <a:t>Rule used: an order is "late" when it arrives on a later day than the date promised to the customer.</a:t>
            </a:r>
            <a:endParaRPr lang="en-US" sz="11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Calibri"/>
                <a:ea typeface="Calibri"/>
                <a:cs typeface="Calibri"/>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868680"/>
          </a:xfrm>
          <a:prstGeom prst="rect">
            <a:avLst/>
          </a:prstGeom>
          <a:noFill/>
          <a:ln/>
        </p:spPr>
        <p:txBody>
          <a:bodyPr wrap="square" lIns="0" tIns="0" rIns="0" bIns="0" rtlCol="0" anchor="t"/>
          <a:lstStyle/>
          <a:p>
            <a:pPr algn="l" indent="0" marL="0">
              <a:buNone/>
            </a:pPr>
            <a:r>
              <a:rPr lang="en-US" sz="2400" b="1" dirty="0">
                <a:solidFill>
                  <a:srgbClr val="1F3864"/>
                </a:solidFill>
                <a:latin typeface="Cambria" pitchFamily="34" charset="0"/>
                <a:ea typeface="Cambria" pitchFamily="34" charset="-122"/>
                <a:cs typeface="Cambria" pitchFamily="34" charset="-120"/>
              </a:rPr>
              <a:t>Late deliveries are the biggest drag on satisfaction, and they cluster in the north-east</a:t>
            </a:r>
            <a:endParaRPr lang="en-US" sz="2400" dirty="0"/>
          </a:p>
        </p:txBody>
      </p:sp>
      <p:graphicFrame>
        <p:nvGraphicFramePr>
          <p:cNvPr id="3" name="Chart 0" descr=""/>
          <p:cNvGraphicFramePr/>
          <p:nvPr/>
        </p:nvGraphicFramePr>
        <p:xfrm>
          <a:off x="365760" y="1234440"/>
          <a:ext cx="4206240" cy="2743200"/>
        </p:xfrm>
        <a:graphic xmlns:a="http://schemas.openxmlformats.org/drawingml/2006/main">
          <a:graphicData uri="http://schemas.openxmlformats.org/drawingml/2006/chart">
            <c:chart xmlns:c="http://schemas.openxmlformats.org/drawingml/2006/chart" r:id="rId1"/>
          </a:graphicData>
        </a:graphic>
      </p:graphicFrame>
      <p:sp>
        <p:nvSpPr>
          <p:cNvPr id="4" name="Text 1"/>
          <p:cNvSpPr txBox="1"/>
          <p:nvPr/>
        </p:nvSpPr>
        <p:spPr>
          <a:xfrm>
            <a:off x="457200" y="4023360"/>
            <a:ext cx="4114800" cy="640080"/>
          </a:xfrm>
          <a:prstGeom prst="rect">
            <a:avLst/>
          </a:prstGeom>
          <a:noFill/>
          <a:ln/>
        </p:spPr>
        <p:txBody>
          <a:bodyPr wrap="square" lIns="0" tIns="0" rIns="0" bIns="0" rtlCol="0" anchor="t"/>
          <a:lstStyle/>
          <a:p>
            <a:pPr indent="0" marL="0">
              <a:buNone/>
            </a:pPr>
            <a:r>
              <a:rPr lang="en-US" sz="1150" dirty="0">
                <a:solidFill>
                  <a:schemeClr val="tx1"/>
                </a:solidFill>
                <a:latin typeface="Calibri" pitchFamily="34" charset="0"/>
                <a:ea typeface="Calibri" pitchFamily="34" charset="-122"/>
                <a:cs typeface="Calibri" pitchFamily="34" charset="-120"/>
              </a:rPr>
              <a:t>Late orders are 6.7% of reviewed orders but 32.5% of all 1-2 star reviews (3,983 of 12,272).</a:t>
            </a:r>
            <a:endParaRPr lang="en-US" sz="1150" dirty="0"/>
          </a:p>
        </p:txBody>
      </p:sp>
      <p:graphicFrame>
        <p:nvGraphicFramePr>
          <p:cNvPr id="5" name="Chart 1" descr=""/>
          <p:cNvGraphicFramePr/>
          <p:nvPr/>
        </p:nvGraphicFramePr>
        <p:xfrm>
          <a:off x="4754880" y="1234440"/>
          <a:ext cx="4023360" cy="2743200"/>
        </p:xfrm>
        <a:graphic xmlns:a="http://schemas.openxmlformats.org/drawingml/2006/main">
          <a:graphicData uri="http://schemas.openxmlformats.org/drawingml/2006/chart">
            <c:chart xmlns:c="http://schemas.openxmlformats.org/drawingml/2006/chart" r:id="rId2"/>
          </a:graphicData>
        </a:graphic>
      </p:graphicFrame>
      <p:sp>
        <p:nvSpPr>
          <p:cNvPr id="6" name="Text 2"/>
          <p:cNvSpPr txBox="1"/>
          <p:nvPr/>
        </p:nvSpPr>
        <p:spPr>
          <a:xfrm>
            <a:off x="4846320" y="4023360"/>
            <a:ext cx="3931920" cy="640080"/>
          </a:xfrm>
          <a:prstGeom prst="rect">
            <a:avLst/>
          </a:prstGeom>
          <a:noFill/>
          <a:ln/>
        </p:spPr>
        <p:txBody>
          <a:bodyPr wrap="square" lIns="0" tIns="0" rIns="0" bIns="0" rtlCol="0" anchor="t"/>
          <a:lstStyle/>
          <a:p>
            <a:pPr indent="0" marL="0">
              <a:buNone/>
            </a:pPr>
            <a:r>
              <a:rPr lang="en-US" sz="1150" dirty="0">
                <a:solidFill>
                  <a:schemeClr val="tx1"/>
                </a:solidFill>
                <a:latin typeface="Calibri" pitchFamily="34" charset="0"/>
                <a:ea typeface="Calibri" pitchFamily="34" charset="-122"/>
                <a:cs typeface="Calibri" pitchFamily="34" charset="-120"/>
              </a:rPr>
              <a:t>All-state average is 6.8%. São Paulo, 42% of delivered orders, is at 4.5%.</a:t>
            </a:r>
            <a:endParaRPr lang="en-US" sz="115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Calibri"/>
                <a:ea typeface="Calibri"/>
                <a:cs typeface="Calibri"/>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868680"/>
          </a:xfrm>
          <a:prstGeom prst="rect">
            <a:avLst/>
          </a:prstGeom>
          <a:noFill/>
          <a:ln/>
        </p:spPr>
        <p:txBody>
          <a:bodyPr wrap="square" lIns="0" tIns="0" rIns="0" bIns="0" rtlCol="0" anchor="t"/>
          <a:lstStyle/>
          <a:p>
            <a:pPr algn="l" indent="0" marL="0">
              <a:buNone/>
            </a:pPr>
            <a:r>
              <a:rPr lang="en-US" sz="2400" b="1" dirty="0">
                <a:solidFill>
                  <a:srgbClr val="1F3864"/>
                </a:solidFill>
                <a:latin typeface="Cambria" pitchFamily="34" charset="0"/>
                <a:ea typeface="Cambria" pitchFamily="34" charset="-122"/>
                <a:cs typeface="Cambria" pitchFamily="34" charset="-120"/>
              </a:rPr>
              <a:t>Peak months strain delivery, and 97% of customers bought only once</a:t>
            </a:r>
            <a:endParaRPr lang="en-US" sz="2400" dirty="0"/>
          </a:p>
        </p:txBody>
      </p:sp>
      <p:graphicFrame>
        <p:nvGraphicFramePr>
          <p:cNvPr id="3" name="Chart 0" descr=""/>
          <p:cNvGraphicFramePr/>
          <p:nvPr/>
        </p:nvGraphicFramePr>
        <p:xfrm>
          <a:off x="365760" y="1234440"/>
          <a:ext cx="4846320" cy="2743200"/>
        </p:xfrm>
        <a:graphic xmlns:a="http://schemas.openxmlformats.org/drawingml/2006/main">
          <a:graphicData uri="http://schemas.openxmlformats.org/drawingml/2006/chart">
            <c:chart xmlns:c="http://schemas.openxmlformats.org/drawingml/2006/chart" r:id="rId1"/>
          </a:graphicData>
        </a:graphic>
      </p:graphicFrame>
      <p:sp>
        <p:nvSpPr>
          <p:cNvPr id="4" name="Text 1"/>
          <p:cNvSpPr txBox="1"/>
          <p:nvPr/>
        </p:nvSpPr>
        <p:spPr>
          <a:xfrm>
            <a:off x="457200" y="4023360"/>
            <a:ext cx="4663440" cy="640080"/>
          </a:xfrm>
          <a:prstGeom prst="rect">
            <a:avLst/>
          </a:prstGeom>
          <a:noFill/>
          <a:ln/>
        </p:spPr>
        <p:txBody>
          <a:bodyPr wrap="square" lIns="0" tIns="0" rIns="0" bIns="0" rtlCol="0" anchor="t"/>
          <a:lstStyle/>
          <a:p>
            <a:pPr indent="0" marL="0">
              <a:buNone/>
            </a:pPr>
            <a:r>
              <a:rPr lang="en-US" sz="1150" dirty="0">
                <a:solidFill>
                  <a:schemeClr val="tx1"/>
                </a:solidFill>
                <a:latin typeface="Calibri" pitchFamily="34" charset="0"/>
                <a:ea typeface="Calibri" pitchFamily="34" charset="-122"/>
                <a:cs typeface="Calibri" pitchFamily="34" charset="-120"/>
              </a:rPr>
              <a:t>Nov-2017, Feb-2018 and Mar-2018 were 15.1% late, versus 4.5% in all other months.</a:t>
            </a:r>
            <a:endParaRPr lang="en-US" sz="1150" dirty="0"/>
          </a:p>
        </p:txBody>
      </p:sp>
      <p:graphicFrame>
        <p:nvGraphicFramePr>
          <p:cNvPr id="5" name="Chart 1" descr=""/>
          <p:cNvGraphicFramePr/>
          <p:nvPr/>
        </p:nvGraphicFramePr>
        <p:xfrm>
          <a:off x="5394960" y="1234440"/>
          <a:ext cx="3383280" cy="2286000"/>
        </p:xfrm>
        <a:graphic xmlns:a="http://schemas.openxmlformats.org/drawingml/2006/main">
          <a:graphicData uri="http://schemas.openxmlformats.org/drawingml/2006/chart">
            <c:chart xmlns:c="http://schemas.openxmlformats.org/drawingml/2006/chart" r:id="rId2"/>
          </a:graphicData>
        </a:graphic>
      </p:graphicFrame>
      <p:sp>
        <p:nvSpPr>
          <p:cNvPr id="6" name="Text 2"/>
          <p:cNvSpPr txBox="1"/>
          <p:nvPr/>
        </p:nvSpPr>
        <p:spPr>
          <a:xfrm>
            <a:off x="5394960" y="3657600"/>
            <a:ext cx="3383280" cy="914400"/>
          </a:xfrm>
          <a:prstGeom prst="rect">
            <a:avLst/>
          </a:prstGeom>
          <a:noFill/>
          <a:ln/>
        </p:spPr>
        <p:txBody>
          <a:bodyPr wrap="square" lIns="0" tIns="0" rIns="0" bIns="0" rtlCol="0" anchor="t"/>
          <a:lstStyle/>
          <a:p>
            <a:pPr indent="0" marL="0">
              <a:buNone/>
            </a:pPr>
            <a:r>
              <a:rPr lang="en-US" sz="1150" dirty="0">
                <a:solidFill>
                  <a:schemeClr val="tx1"/>
                </a:solidFill>
                <a:latin typeface="Calibri" pitchFamily="34" charset="0"/>
                <a:ea typeface="Calibri" pitchFamily="34" charset="-122"/>
                <a:cs typeface="Calibri" pitchFamily="34" charset="-120"/>
              </a:rPr>
              <a:t>A repeat customer brings R$259.95 on average, versus R$138.38 for a one-time customer.</a:t>
            </a:r>
            <a:endParaRPr lang="en-US" sz="115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Calibri"/>
                <a:ea typeface="Calibri"/>
                <a:cs typeface="Calibri"/>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868680"/>
          </a:xfrm>
          <a:prstGeom prst="rect">
            <a:avLst/>
          </a:prstGeom>
          <a:noFill/>
          <a:ln/>
        </p:spPr>
        <p:txBody>
          <a:bodyPr wrap="square" lIns="0" tIns="0" rIns="0" bIns="0" rtlCol="0" anchor="t"/>
          <a:lstStyle/>
          <a:p>
            <a:pPr algn="l" indent="0" marL="0">
              <a:buNone/>
            </a:pPr>
            <a:r>
              <a:rPr lang="en-US" sz="2400" b="1" dirty="0">
                <a:solidFill>
                  <a:srgbClr val="1F3864"/>
                </a:solidFill>
                <a:latin typeface="Cambria" pitchFamily="34" charset="0"/>
                <a:ea typeface="Cambria" pitchFamily="34" charset="-122"/>
                <a:cs typeface="Cambria" pitchFamily="34" charset="-120"/>
              </a:rPr>
              <a:t>Four actions, led by fixing late delivery where it is worst</a:t>
            </a:r>
            <a:endParaRPr lang="en-US" sz="2400" dirty="0"/>
          </a:p>
        </p:txBody>
      </p:sp>
      <p:sp>
        <p:nvSpPr>
          <p:cNvPr id="3" name="Recommendation 1"/>
          <p:cNvSpPr/>
          <p:nvPr/>
        </p:nvSpPr>
        <p:spPr>
          <a:xfrm>
            <a:off x="457200" y="1234440"/>
            <a:ext cx="4023360" cy="1508760"/>
          </a:xfrm>
          <a:prstGeom prst="roundRect">
            <a:avLst>
              <a:gd name="adj" fmla="val 4848"/>
            </a:avLst>
          </a:prstGeom>
          <a:solidFill>
            <a:schemeClr val="bg2"/>
          </a:solidFill>
          <a:ln w="9525">
            <a:solidFill>
              <a:srgbClr val="E5E7EB"/>
            </a:solidFill>
            <a:prstDash val="solid"/>
          </a:ln>
        </p:spPr>
      </p:sp>
      <p:sp>
        <p:nvSpPr>
          <p:cNvPr id="4" name="Number 1"/>
          <p:cNvSpPr/>
          <p:nvPr/>
        </p:nvSpPr>
        <p:spPr>
          <a:xfrm>
            <a:off x="594360" y="1371600"/>
            <a:ext cx="384048" cy="384048"/>
          </a:xfrm>
          <a:prstGeom prst="ellipse">
            <a:avLst/>
          </a:prstGeom>
          <a:solidFill>
            <a:schemeClr val="accent1"/>
          </a:solidFill>
          <a:ln w="12700">
            <a:solidFill>
              <a:schemeClr val="accent1"/>
            </a:solidFill>
            <a:prstDash val="solid"/>
          </a:ln>
        </p:spPr>
      </p:sp>
      <p:sp>
        <p:nvSpPr>
          <p:cNvPr id="5" name="Text 3"/>
          <p:cNvSpPr txBox="1"/>
          <p:nvPr/>
        </p:nvSpPr>
        <p:spPr>
          <a:xfrm>
            <a:off x="594360" y="137160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6" name="Text 4"/>
          <p:cNvSpPr txBox="1"/>
          <p:nvPr/>
        </p:nvSpPr>
        <p:spPr>
          <a:xfrm>
            <a:off x="1097280" y="1325880"/>
            <a:ext cx="3291840" cy="502920"/>
          </a:xfrm>
          <a:prstGeom prst="rect">
            <a:avLst/>
          </a:prstGeom>
          <a:noFill/>
          <a:ln/>
        </p:spPr>
        <p:txBody>
          <a:bodyPr wrap="square" lIns="0" tIns="0" rIns="0" bIns="0" rtlCol="0" anchor="ctr"/>
          <a:lstStyle/>
          <a:p>
            <a:pPr indent="0" marL="0">
              <a:buNone/>
            </a:pPr>
            <a:r>
              <a:rPr lang="en-US" sz="1250" b="1" dirty="0">
                <a:solidFill>
                  <a:schemeClr val="tx2"/>
                </a:solidFill>
                <a:latin typeface="Cambria" pitchFamily="34" charset="0"/>
                <a:ea typeface="Cambria" pitchFamily="34" charset="-122"/>
                <a:cs typeface="Cambria" pitchFamily="34" charset="-120"/>
              </a:rPr>
              <a:t>Review carriers and promise dates in AL, MA, SE, PI and CE</a:t>
            </a:r>
            <a:endParaRPr lang="en-US" sz="1250" dirty="0"/>
          </a:p>
        </p:txBody>
      </p:sp>
      <p:sp>
        <p:nvSpPr>
          <p:cNvPr id="7" name="Text 5"/>
          <p:cNvSpPr txBox="1"/>
          <p:nvPr/>
        </p:nvSpPr>
        <p:spPr>
          <a:xfrm>
            <a:off x="640080" y="1874520"/>
            <a:ext cx="3657600" cy="365760"/>
          </a:xfrm>
          <a:prstGeom prst="rect">
            <a:avLst/>
          </a:prstGeom>
          <a:noFill/>
          <a:ln/>
        </p:spPr>
        <p:txBody>
          <a:bodyPr wrap="square" lIns="0" tIns="0" rIns="0" bIns="0" rtlCol="0" anchor="t"/>
          <a:lstStyle/>
          <a:p>
            <a:pPr indent="0" marL="0">
              <a:buNone/>
            </a:pPr>
            <a:r>
              <a:rPr lang="en-US" sz="1050" dirty="0">
                <a:solidFill>
                  <a:schemeClr val="tx1"/>
                </a:solidFill>
                <a:latin typeface="Calibri" pitchFamily="34" charset="0"/>
                <a:ea typeface="Calibri" pitchFamily="34" charset="-122"/>
                <a:cs typeface="Calibri" pitchFamily="34" charset="-120"/>
              </a:rPr>
              <a:t>These five states are 13.8-21.4% late versus a 6.8% average.</a:t>
            </a:r>
            <a:endParaRPr lang="en-US" sz="1050" dirty="0"/>
          </a:p>
        </p:txBody>
      </p:sp>
      <p:sp>
        <p:nvSpPr>
          <p:cNvPr id="8" name="Text 6"/>
          <p:cNvSpPr txBox="1"/>
          <p:nvPr/>
        </p:nvSpPr>
        <p:spPr>
          <a:xfrm>
            <a:off x="640080" y="2240280"/>
            <a:ext cx="3657600" cy="502920"/>
          </a:xfrm>
          <a:prstGeom prst="rect">
            <a:avLst/>
          </a:prstGeom>
          <a:noFill/>
          <a:ln/>
        </p:spPr>
        <p:txBody>
          <a:bodyPr wrap="square" lIns="0" tIns="0" rIns="0" bIns="0" rtlCol="0" anchor="t"/>
          <a:lstStyle/>
          <a:p>
            <a:pPr indent="0" marL="0">
              <a:buNone/>
            </a:pPr>
            <a:r>
              <a:rPr lang="en-US" sz="1050" b="1" dirty="0">
                <a:solidFill>
                  <a:schemeClr val="accent1"/>
                </a:solidFill>
                <a:latin typeface="Calibri" pitchFamily="34" charset="0"/>
                <a:ea typeface="Calibri" pitchFamily="34" charset="-122"/>
                <a:cs typeface="Calibri" pitchFamily="34" charset="-120"/>
              </a:rPr>
              <a:t>Expected impact: </a:t>
            </a:r>
            <a:pPr indent="0" marL="0">
              <a:buNone/>
            </a:pPr>
            <a:r>
              <a:rPr lang="en-US" sz="1050" dirty="0">
                <a:solidFill>
                  <a:schemeClr val="tx1"/>
                </a:solidFill>
                <a:latin typeface="Calibri" pitchFamily="34" charset="0"/>
                <a:ea typeface="Calibri" pitchFamily="34" charset="-122"/>
                <a:cs typeface="Calibri" pitchFamily="34" charset="-120"/>
              </a:rPr>
              <a:t>If they matched the average: about 286 fewer late orders (503 down to about 217).</a:t>
            </a:r>
            <a:endParaRPr lang="en-US" sz="1050" dirty="0"/>
          </a:p>
        </p:txBody>
      </p:sp>
      <p:sp>
        <p:nvSpPr>
          <p:cNvPr id="9" name="Recommendation 2"/>
          <p:cNvSpPr/>
          <p:nvPr/>
        </p:nvSpPr>
        <p:spPr>
          <a:xfrm>
            <a:off x="4663440" y="1234440"/>
            <a:ext cx="4023360" cy="1508760"/>
          </a:xfrm>
          <a:prstGeom prst="roundRect">
            <a:avLst>
              <a:gd name="adj" fmla="val 4848"/>
            </a:avLst>
          </a:prstGeom>
          <a:solidFill>
            <a:schemeClr val="bg2"/>
          </a:solidFill>
          <a:ln w="9525">
            <a:solidFill>
              <a:srgbClr val="E5E7EB"/>
            </a:solidFill>
            <a:prstDash val="solid"/>
          </a:ln>
        </p:spPr>
      </p:sp>
      <p:sp>
        <p:nvSpPr>
          <p:cNvPr id="10" name="Number 2"/>
          <p:cNvSpPr/>
          <p:nvPr/>
        </p:nvSpPr>
        <p:spPr>
          <a:xfrm>
            <a:off x="4800600" y="1371600"/>
            <a:ext cx="384048" cy="384048"/>
          </a:xfrm>
          <a:prstGeom prst="ellipse">
            <a:avLst/>
          </a:prstGeom>
          <a:solidFill>
            <a:schemeClr val="accent1"/>
          </a:solidFill>
          <a:ln w="12700">
            <a:solidFill>
              <a:schemeClr val="accent1"/>
            </a:solidFill>
            <a:prstDash val="solid"/>
          </a:ln>
        </p:spPr>
      </p:sp>
      <p:sp>
        <p:nvSpPr>
          <p:cNvPr id="11" name="Text 9"/>
          <p:cNvSpPr txBox="1"/>
          <p:nvPr/>
        </p:nvSpPr>
        <p:spPr>
          <a:xfrm>
            <a:off x="4800600" y="137160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2" name="Text 10"/>
          <p:cNvSpPr txBox="1"/>
          <p:nvPr/>
        </p:nvSpPr>
        <p:spPr>
          <a:xfrm>
            <a:off x="5303520" y="1325880"/>
            <a:ext cx="3291840" cy="502920"/>
          </a:xfrm>
          <a:prstGeom prst="rect">
            <a:avLst/>
          </a:prstGeom>
          <a:noFill/>
          <a:ln/>
        </p:spPr>
        <p:txBody>
          <a:bodyPr wrap="square" lIns="0" tIns="0" rIns="0" bIns="0" rtlCol="0" anchor="ctr"/>
          <a:lstStyle/>
          <a:p>
            <a:pPr indent="0" marL="0">
              <a:buNone/>
            </a:pPr>
            <a:r>
              <a:rPr lang="en-US" sz="1250" b="1" dirty="0">
                <a:solidFill>
                  <a:schemeClr val="tx2"/>
                </a:solidFill>
                <a:latin typeface="Cambria" pitchFamily="34" charset="0"/>
                <a:ea typeface="Cambria" pitchFamily="34" charset="-122"/>
                <a:cs typeface="Cambria" pitchFamily="34" charset="-120"/>
              </a:rPr>
              <a:t>Put the 15 weakest sellers on a watch list</a:t>
            </a:r>
            <a:endParaRPr lang="en-US" sz="1250" dirty="0"/>
          </a:p>
        </p:txBody>
      </p:sp>
      <p:sp>
        <p:nvSpPr>
          <p:cNvPr id="13" name="Text 11"/>
          <p:cNvSpPr txBox="1"/>
          <p:nvPr/>
        </p:nvSpPr>
        <p:spPr>
          <a:xfrm>
            <a:off x="4846320" y="1874520"/>
            <a:ext cx="3657600" cy="365760"/>
          </a:xfrm>
          <a:prstGeom prst="rect">
            <a:avLst/>
          </a:prstGeom>
          <a:noFill/>
          <a:ln/>
        </p:spPr>
        <p:txBody>
          <a:bodyPr wrap="square" lIns="0" tIns="0" rIns="0" bIns="0" rtlCol="0" anchor="t"/>
          <a:lstStyle/>
          <a:p>
            <a:pPr indent="0" marL="0">
              <a:buNone/>
            </a:pPr>
            <a:r>
              <a:rPr lang="en-US" sz="1050" dirty="0">
                <a:solidFill>
                  <a:schemeClr val="tx1"/>
                </a:solidFill>
                <a:latin typeface="Calibri" pitchFamily="34" charset="0"/>
                <a:ea typeface="Calibri" pitchFamily="34" charset="-122"/>
                <a:cs typeface="Calibri" pitchFamily="34" charset="-120"/>
              </a:rPr>
              <a:t>Sellers with 50+ orders and 13.7-28.2% late. Agree a target and review monthly.</a:t>
            </a:r>
            <a:endParaRPr lang="en-US" sz="1050" dirty="0"/>
          </a:p>
        </p:txBody>
      </p:sp>
      <p:sp>
        <p:nvSpPr>
          <p:cNvPr id="14" name="Text 12"/>
          <p:cNvSpPr txBox="1"/>
          <p:nvPr/>
        </p:nvSpPr>
        <p:spPr>
          <a:xfrm>
            <a:off x="4846320" y="2240280"/>
            <a:ext cx="3657600" cy="502920"/>
          </a:xfrm>
          <a:prstGeom prst="rect">
            <a:avLst/>
          </a:prstGeom>
          <a:noFill/>
          <a:ln/>
        </p:spPr>
        <p:txBody>
          <a:bodyPr wrap="square" lIns="0" tIns="0" rIns="0" bIns="0" rtlCol="0" anchor="t"/>
          <a:lstStyle/>
          <a:p>
            <a:pPr indent="0" marL="0">
              <a:buNone/>
            </a:pPr>
            <a:r>
              <a:rPr lang="en-US" sz="1050" b="1" dirty="0">
                <a:solidFill>
                  <a:schemeClr val="accent1"/>
                </a:solidFill>
                <a:latin typeface="Calibri" pitchFamily="34" charset="0"/>
                <a:ea typeface="Calibri" pitchFamily="34" charset="-122"/>
                <a:cs typeface="Calibri" pitchFamily="34" charset="-120"/>
              </a:rPr>
              <a:t>Expected impact: </a:t>
            </a:r>
            <a:pPr indent="0" marL="0">
              <a:buNone/>
            </a:pPr>
            <a:r>
              <a:rPr lang="en-US" sz="1050" dirty="0">
                <a:solidFill>
                  <a:schemeClr val="tx1"/>
                </a:solidFill>
                <a:latin typeface="Calibri" pitchFamily="34" charset="0"/>
                <a:ea typeface="Calibri" pitchFamily="34" charset="-122"/>
                <a:cs typeface="Calibri" pitchFamily="34" charset="-120"/>
              </a:rPr>
              <a:t>If they matched the average: about 190 fewer late orders (299 down to about 109).</a:t>
            </a:r>
            <a:endParaRPr lang="en-US" sz="1050" dirty="0"/>
          </a:p>
        </p:txBody>
      </p:sp>
      <p:sp>
        <p:nvSpPr>
          <p:cNvPr id="15" name="Recommendation 3"/>
          <p:cNvSpPr/>
          <p:nvPr/>
        </p:nvSpPr>
        <p:spPr>
          <a:xfrm>
            <a:off x="457200" y="2880360"/>
            <a:ext cx="4023360" cy="1508760"/>
          </a:xfrm>
          <a:prstGeom prst="roundRect">
            <a:avLst>
              <a:gd name="adj" fmla="val 4848"/>
            </a:avLst>
          </a:prstGeom>
          <a:solidFill>
            <a:schemeClr val="bg2"/>
          </a:solidFill>
          <a:ln w="9525">
            <a:solidFill>
              <a:srgbClr val="E5E7EB"/>
            </a:solidFill>
            <a:prstDash val="solid"/>
          </a:ln>
        </p:spPr>
      </p:sp>
      <p:sp>
        <p:nvSpPr>
          <p:cNvPr id="16" name="Number 3"/>
          <p:cNvSpPr/>
          <p:nvPr/>
        </p:nvSpPr>
        <p:spPr>
          <a:xfrm>
            <a:off x="594360" y="3017520"/>
            <a:ext cx="384048" cy="384048"/>
          </a:xfrm>
          <a:prstGeom prst="ellipse">
            <a:avLst/>
          </a:prstGeom>
          <a:solidFill>
            <a:schemeClr val="accent1"/>
          </a:solidFill>
          <a:ln w="12700">
            <a:solidFill>
              <a:schemeClr val="accent1"/>
            </a:solidFill>
            <a:prstDash val="solid"/>
          </a:ln>
        </p:spPr>
      </p:sp>
      <p:sp>
        <p:nvSpPr>
          <p:cNvPr id="17" name="Text 15"/>
          <p:cNvSpPr txBox="1"/>
          <p:nvPr/>
        </p:nvSpPr>
        <p:spPr>
          <a:xfrm>
            <a:off x="594360" y="301752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8" name="Text 16"/>
          <p:cNvSpPr txBox="1"/>
          <p:nvPr/>
        </p:nvSpPr>
        <p:spPr>
          <a:xfrm>
            <a:off x="1097280" y="2971800"/>
            <a:ext cx="3291840" cy="502920"/>
          </a:xfrm>
          <a:prstGeom prst="rect">
            <a:avLst/>
          </a:prstGeom>
          <a:noFill/>
          <a:ln/>
        </p:spPr>
        <p:txBody>
          <a:bodyPr wrap="square" lIns="0" tIns="0" rIns="0" bIns="0" rtlCol="0" anchor="ctr"/>
          <a:lstStyle/>
          <a:p>
            <a:pPr indent="0" marL="0">
              <a:buNone/>
            </a:pPr>
            <a:r>
              <a:rPr lang="en-US" sz="1250" b="1" dirty="0">
                <a:solidFill>
                  <a:schemeClr val="tx2"/>
                </a:solidFill>
                <a:latin typeface="Cambria" pitchFamily="34" charset="0"/>
                <a:ea typeface="Cambria" pitchFamily="34" charset="-122"/>
                <a:cs typeface="Cambria" pitchFamily="34" charset="-120"/>
              </a:rPr>
              <a:t>Plan extra delivery capacity before peak months</a:t>
            </a:r>
            <a:endParaRPr lang="en-US" sz="1250" dirty="0"/>
          </a:p>
        </p:txBody>
      </p:sp>
      <p:sp>
        <p:nvSpPr>
          <p:cNvPr id="19" name="Text 17"/>
          <p:cNvSpPr txBox="1"/>
          <p:nvPr/>
        </p:nvSpPr>
        <p:spPr>
          <a:xfrm>
            <a:off x="640080" y="3520440"/>
            <a:ext cx="3657600" cy="365760"/>
          </a:xfrm>
          <a:prstGeom prst="rect">
            <a:avLst/>
          </a:prstGeom>
          <a:noFill/>
          <a:ln/>
        </p:spPr>
        <p:txBody>
          <a:bodyPr wrap="square" lIns="0" tIns="0" rIns="0" bIns="0" rtlCol="0" anchor="t"/>
          <a:lstStyle/>
          <a:p>
            <a:pPr indent="0" marL="0">
              <a:buNone/>
            </a:pPr>
            <a:r>
              <a:rPr lang="en-US" sz="1050" dirty="0">
                <a:solidFill>
                  <a:schemeClr val="tx1"/>
                </a:solidFill>
                <a:latin typeface="Calibri" pitchFamily="34" charset="0"/>
                <a:ea typeface="Calibri" pitchFamily="34" charset="-122"/>
                <a:cs typeface="Calibri" pitchFamily="34" charset="-120"/>
              </a:rPr>
              <a:t>Nov, Feb and Mar ran at 15.1% late versus 4.5% normally.</a:t>
            </a:r>
            <a:endParaRPr lang="en-US" sz="1050" dirty="0"/>
          </a:p>
        </p:txBody>
      </p:sp>
      <p:sp>
        <p:nvSpPr>
          <p:cNvPr id="20" name="Text 18"/>
          <p:cNvSpPr txBox="1"/>
          <p:nvPr/>
        </p:nvSpPr>
        <p:spPr>
          <a:xfrm>
            <a:off x="640080" y="3886200"/>
            <a:ext cx="3657600" cy="502920"/>
          </a:xfrm>
          <a:prstGeom prst="rect">
            <a:avLst/>
          </a:prstGeom>
          <a:noFill/>
          <a:ln/>
        </p:spPr>
        <p:txBody>
          <a:bodyPr wrap="square" lIns="0" tIns="0" rIns="0" bIns="0" rtlCol="0" anchor="t"/>
          <a:lstStyle/>
          <a:p>
            <a:pPr indent="0" marL="0">
              <a:buNone/>
            </a:pPr>
            <a:r>
              <a:rPr lang="en-US" sz="1050" b="1" dirty="0">
                <a:solidFill>
                  <a:schemeClr val="accent1"/>
                </a:solidFill>
                <a:latin typeface="Calibri" pitchFamily="34" charset="0"/>
                <a:ea typeface="Calibri" pitchFamily="34" charset="-122"/>
                <a:cs typeface="Calibri" pitchFamily="34" charset="-120"/>
              </a:rPr>
              <a:t>Expected impact: </a:t>
            </a:r>
            <a:pPr indent="0" marL="0">
              <a:buNone/>
            </a:pPr>
            <a:r>
              <a:rPr lang="en-US" sz="1050" dirty="0">
                <a:solidFill>
                  <a:schemeClr val="tx1"/>
                </a:solidFill>
                <a:latin typeface="Calibri" pitchFamily="34" charset="0"/>
                <a:ea typeface="Calibri" pitchFamily="34" charset="-122"/>
                <a:cs typeface="Calibri" pitchFamily="34" charset="-120"/>
              </a:rPr>
              <a:t>If peaks matched normal months: about 2,200 fewer late orders, a third of all late orders.</a:t>
            </a:r>
            <a:endParaRPr lang="en-US" sz="1050" dirty="0"/>
          </a:p>
        </p:txBody>
      </p:sp>
      <p:sp>
        <p:nvSpPr>
          <p:cNvPr id="21" name="Recommendation 4"/>
          <p:cNvSpPr/>
          <p:nvPr/>
        </p:nvSpPr>
        <p:spPr>
          <a:xfrm>
            <a:off x="4663440" y="2880360"/>
            <a:ext cx="4023360" cy="1508760"/>
          </a:xfrm>
          <a:prstGeom prst="roundRect">
            <a:avLst>
              <a:gd name="adj" fmla="val 4848"/>
            </a:avLst>
          </a:prstGeom>
          <a:solidFill>
            <a:schemeClr val="bg2"/>
          </a:solidFill>
          <a:ln w="9525">
            <a:solidFill>
              <a:srgbClr val="E5E7EB"/>
            </a:solidFill>
            <a:prstDash val="solid"/>
          </a:ln>
        </p:spPr>
      </p:sp>
      <p:sp>
        <p:nvSpPr>
          <p:cNvPr id="22" name="Number 4"/>
          <p:cNvSpPr/>
          <p:nvPr/>
        </p:nvSpPr>
        <p:spPr>
          <a:xfrm>
            <a:off x="4800600" y="3017520"/>
            <a:ext cx="384048" cy="384048"/>
          </a:xfrm>
          <a:prstGeom prst="ellipse">
            <a:avLst/>
          </a:prstGeom>
          <a:solidFill>
            <a:schemeClr val="accent1"/>
          </a:solidFill>
          <a:ln w="12700">
            <a:solidFill>
              <a:schemeClr val="accent1"/>
            </a:solidFill>
            <a:prstDash val="solid"/>
          </a:ln>
        </p:spPr>
      </p:sp>
      <p:sp>
        <p:nvSpPr>
          <p:cNvPr id="23" name="Text 21"/>
          <p:cNvSpPr txBox="1"/>
          <p:nvPr/>
        </p:nvSpPr>
        <p:spPr>
          <a:xfrm>
            <a:off x="4800600" y="301752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4" name="Text 22"/>
          <p:cNvSpPr txBox="1"/>
          <p:nvPr/>
        </p:nvSpPr>
        <p:spPr>
          <a:xfrm>
            <a:off x="5303520" y="2971800"/>
            <a:ext cx="3291840" cy="502920"/>
          </a:xfrm>
          <a:prstGeom prst="rect">
            <a:avLst/>
          </a:prstGeom>
          <a:noFill/>
          <a:ln/>
        </p:spPr>
        <p:txBody>
          <a:bodyPr wrap="square" lIns="0" tIns="0" rIns="0" bIns="0" rtlCol="0" anchor="ctr"/>
          <a:lstStyle/>
          <a:p>
            <a:pPr indent="0" marL="0">
              <a:buNone/>
            </a:pPr>
            <a:r>
              <a:rPr lang="en-US" sz="1250" b="1" dirty="0">
                <a:solidFill>
                  <a:schemeClr val="tx2"/>
                </a:solidFill>
                <a:latin typeface="Cambria" pitchFamily="34" charset="0"/>
                <a:ea typeface="Cambria" pitchFamily="34" charset="-122"/>
                <a:cs typeface="Cambria" pitchFamily="34" charset="-120"/>
              </a:rPr>
              <a:t>Give first-time buyers a reason to return</a:t>
            </a:r>
            <a:endParaRPr lang="en-US" sz="1250" dirty="0"/>
          </a:p>
        </p:txBody>
      </p:sp>
      <p:sp>
        <p:nvSpPr>
          <p:cNvPr id="25" name="Text 23"/>
          <p:cNvSpPr txBox="1"/>
          <p:nvPr/>
        </p:nvSpPr>
        <p:spPr>
          <a:xfrm>
            <a:off x="4846320" y="3520440"/>
            <a:ext cx="3657600" cy="365760"/>
          </a:xfrm>
          <a:prstGeom prst="rect">
            <a:avLst/>
          </a:prstGeom>
          <a:noFill/>
          <a:ln/>
        </p:spPr>
        <p:txBody>
          <a:bodyPr wrap="square" lIns="0" tIns="0" rIns="0" bIns="0" rtlCol="0" anchor="t"/>
          <a:lstStyle/>
          <a:p>
            <a:pPr indent="0" marL="0">
              <a:buNone/>
            </a:pPr>
            <a:r>
              <a:rPr lang="en-US" sz="1050" dirty="0">
                <a:solidFill>
                  <a:schemeClr val="tx1"/>
                </a:solidFill>
                <a:latin typeface="Calibri" pitchFamily="34" charset="0"/>
                <a:ea typeface="Calibri" pitchFamily="34" charset="-122"/>
                <a:cs typeface="Calibri" pitchFamily="34" charset="-120"/>
              </a:rPr>
              <a:t>97% of customers bought only once in this data. Offer a follow-up after a good delivery.</a:t>
            </a:r>
            <a:endParaRPr lang="en-US" sz="1050" dirty="0"/>
          </a:p>
        </p:txBody>
      </p:sp>
      <p:sp>
        <p:nvSpPr>
          <p:cNvPr id="26" name="Text 24"/>
          <p:cNvSpPr txBox="1"/>
          <p:nvPr/>
        </p:nvSpPr>
        <p:spPr>
          <a:xfrm>
            <a:off x="4846320" y="3886200"/>
            <a:ext cx="3657600" cy="502920"/>
          </a:xfrm>
          <a:prstGeom prst="rect">
            <a:avLst/>
          </a:prstGeom>
          <a:noFill/>
          <a:ln/>
        </p:spPr>
        <p:txBody>
          <a:bodyPr wrap="square" lIns="0" tIns="0" rIns="0" bIns="0" rtlCol="0" anchor="t"/>
          <a:lstStyle/>
          <a:p>
            <a:pPr indent="0" marL="0">
              <a:buNone/>
            </a:pPr>
            <a:r>
              <a:rPr lang="en-US" sz="1050" b="1" dirty="0">
                <a:solidFill>
                  <a:schemeClr val="accent1"/>
                </a:solidFill>
                <a:latin typeface="Calibri" pitchFamily="34" charset="0"/>
                <a:ea typeface="Calibri" pitchFamily="34" charset="-122"/>
                <a:cs typeface="Calibri" pitchFamily="34" charset="-120"/>
              </a:rPr>
              <a:t>Expected impact: </a:t>
            </a:r>
            <a:pPr indent="0" marL="0">
              <a:buNone/>
            </a:pPr>
            <a:r>
              <a:rPr lang="en-US" sz="1050" dirty="0">
                <a:solidFill>
                  <a:schemeClr val="tx1"/>
                </a:solidFill>
                <a:latin typeface="Calibri" pitchFamily="34" charset="0"/>
                <a:ea typeface="Calibri" pitchFamily="34" charset="-122"/>
                <a:cs typeface="Calibri" pitchFamily="34" charset="-120"/>
              </a:rPr>
              <a:t>If 1 in 100 one-time buyers became repeat buyers: about R$112k more revenue (0.8%).</a:t>
            </a:r>
            <a:endParaRPr lang="en-US" sz="1050" dirty="0"/>
          </a:p>
        </p:txBody>
      </p:sp>
      <p:sp>
        <p:nvSpPr>
          <p:cNvPr id="27" name="Text 25"/>
          <p:cNvSpPr txBox="1"/>
          <p:nvPr/>
        </p:nvSpPr>
        <p:spPr>
          <a:xfrm>
            <a:off x="457200" y="4498848"/>
            <a:ext cx="7772400" cy="182880"/>
          </a:xfrm>
          <a:prstGeom prst="rect">
            <a:avLst/>
          </a:prstGeom>
          <a:noFill/>
          <a:ln/>
        </p:spPr>
        <p:txBody>
          <a:bodyPr wrap="square" lIns="0" tIns="0" rIns="0" bIns="0" rtlCol="0" anchor="ctr"/>
          <a:lstStyle/>
          <a:p>
            <a:pPr indent="0" marL="0">
              <a:buNone/>
            </a:pPr>
            <a:r>
              <a:rPr lang="en-US" sz="900" i="1" dirty="0">
                <a:solidFill>
                  <a:schemeClr val="accent4"/>
                </a:solidFill>
                <a:latin typeface="Calibri" pitchFamily="34" charset="0"/>
                <a:ea typeface="Calibri" pitchFamily="34" charset="-122"/>
                <a:cs typeface="Calibri" pitchFamily="34" charset="-120"/>
              </a:rPr>
              <a:t>Impacts are what-if sums using this dataset's own averages, not forecasts. They assume late delivery causes the poor reviews.</a:t>
            </a:r>
            <a:endParaRPr lang="en-US" sz="9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Calibri"/>
                <a:ea typeface="Calibri"/>
                <a:cs typeface="Calibri"/>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868680"/>
          </a:xfrm>
          <a:prstGeom prst="rect">
            <a:avLst/>
          </a:prstGeom>
          <a:noFill/>
          <a:ln/>
        </p:spPr>
        <p:txBody>
          <a:bodyPr wrap="square" lIns="0" tIns="0" rIns="0" bIns="0" rtlCol="0" anchor="t"/>
          <a:lstStyle/>
          <a:p>
            <a:pPr algn="l" indent="0" marL="0">
              <a:buNone/>
            </a:pPr>
            <a:r>
              <a:rPr lang="en-US" sz="2400" b="1" dirty="0">
                <a:solidFill>
                  <a:srgbClr val="1F3864"/>
                </a:solidFill>
                <a:latin typeface="Cambria" pitchFamily="34" charset="0"/>
                <a:ea typeface="Cambria" pitchFamily="34" charset="-122"/>
                <a:cs typeface="Cambria" pitchFamily="34" charset="-120"/>
              </a:rPr>
              <a:t>Next steps: confirm the causes, pilot the fixes, then track on-time delivery monthly</a:t>
            </a:r>
            <a:endParaRPr lang="en-US" sz="2400" dirty="0"/>
          </a:p>
        </p:txBody>
      </p:sp>
      <p:sp>
        <p:nvSpPr>
          <p:cNvPr id="3" name="Step 1"/>
          <p:cNvSpPr/>
          <p:nvPr/>
        </p:nvSpPr>
        <p:spPr>
          <a:xfrm>
            <a:off x="457200" y="1325880"/>
            <a:ext cx="411480" cy="411480"/>
          </a:xfrm>
          <a:prstGeom prst="ellipse">
            <a:avLst/>
          </a:prstGeom>
          <a:solidFill>
            <a:schemeClr val="accent1"/>
          </a:solidFill>
          <a:ln w="12700">
            <a:solidFill>
              <a:schemeClr val="accent1"/>
            </a:solidFill>
            <a:prstDash val="solid"/>
          </a:ln>
        </p:spPr>
      </p:sp>
      <p:sp>
        <p:nvSpPr>
          <p:cNvPr id="4" name="Text 2"/>
          <p:cNvSpPr txBox="1"/>
          <p:nvPr/>
        </p:nvSpPr>
        <p:spPr>
          <a:xfrm>
            <a:off x="457200" y="1325880"/>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5" name="Text 3"/>
          <p:cNvSpPr txBox="1"/>
          <p:nvPr/>
        </p:nvSpPr>
        <p:spPr>
          <a:xfrm>
            <a:off x="1051560" y="1280160"/>
            <a:ext cx="3931920" cy="274320"/>
          </a:xfrm>
          <a:prstGeom prst="rect">
            <a:avLst/>
          </a:prstGeom>
          <a:noFill/>
          <a:ln/>
        </p:spPr>
        <p:txBody>
          <a:bodyPr wrap="square" lIns="0" tIns="0" rIns="0" bIns="0" rtlCol="0" anchor="ctr"/>
          <a:lstStyle/>
          <a:p>
            <a:pPr indent="0" marL="0">
              <a:buNone/>
            </a:pPr>
            <a:r>
              <a:rPr lang="en-US" sz="1400" b="1" dirty="0">
                <a:solidFill>
                  <a:schemeClr val="tx2"/>
                </a:solidFill>
                <a:latin typeface="Cambria" pitchFamily="34" charset="0"/>
                <a:ea typeface="Cambria" pitchFamily="34" charset="-122"/>
                <a:cs typeface="Cambria" pitchFamily="34" charset="-120"/>
              </a:rPr>
              <a:t>Confirm the definition</a:t>
            </a:r>
            <a:endParaRPr lang="en-US" sz="1400" dirty="0"/>
          </a:p>
        </p:txBody>
      </p:sp>
      <p:sp>
        <p:nvSpPr>
          <p:cNvPr id="6" name="Text 4"/>
          <p:cNvSpPr txBox="1"/>
          <p:nvPr/>
        </p:nvSpPr>
        <p:spPr>
          <a:xfrm>
            <a:off x="1051560" y="1554480"/>
            <a:ext cx="3931920" cy="457200"/>
          </a:xfrm>
          <a:prstGeom prst="rect">
            <a:avLst/>
          </a:prstGeom>
          <a:noFill/>
          <a:ln/>
        </p:spPr>
        <p:txBody>
          <a:bodyPr wrap="square" lIns="0" tIns="0" rIns="0" bIns="0" rtlCol="0" anchor="t"/>
          <a:lstStyle/>
          <a:p>
            <a:pPr indent="0" marL="0">
              <a:buNone/>
            </a:pPr>
            <a:r>
              <a:rPr lang="en-US" sz="1100" dirty="0">
                <a:solidFill>
                  <a:schemeClr val="tx1"/>
                </a:solidFill>
                <a:latin typeface="Calibri" pitchFamily="34" charset="0"/>
                <a:ea typeface="Calibri" pitchFamily="34" charset="-122"/>
                <a:cs typeface="Calibri" pitchFamily="34" charset="-120"/>
              </a:rPr>
              <a:t>Agree with the business that "late" means after the promised day, and check how promise dates are set.</a:t>
            </a:r>
            <a:endParaRPr lang="en-US" sz="1100" dirty="0"/>
          </a:p>
        </p:txBody>
      </p:sp>
      <p:sp>
        <p:nvSpPr>
          <p:cNvPr id="7" name="Step 2"/>
          <p:cNvSpPr/>
          <p:nvPr/>
        </p:nvSpPr>
        <p:spPr>
          <a:xfrm>
            <a:off x="457200" y="2148840"/>
            <a:ext cx="411480" cy="411480"/>
          </a:xfrm>
          <a:prstGeom prst="ellipse">
            <a:avLst/>
          </a:prstGeom>
          <a:solidFill>
            <a:schemeClr val="accent1"/>
          </a:solidFill>
          <a:ln w="12700">
            <a:solidFill>
              <a:schemeClr val="accent1"/>
            </a:solidFill>
            <a:prstDash val="solid"/>
          </a:ln>
        </p:spPr>
      </p:sp>
      <p:sp>
        <p:nvSpPr>
          <p:cNvPr id="8" name="Text 6"/>
          <p:cNvSpPr txBox="1"/>
          <p:nvPr/>
        </p:nvSpPr>
        <p:spPr>
          <a:xfrm>
            <a:off x="457200" y="2148840"/>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9" name="Text 7"/>
          <p:cNvSpPr txBox="1"/>
          <p:nvPr/>
        </p:nvSpPr>
        <p:spPr>
          <a:xfrm>
            <a:off x="1051560" y="2103120"/>
            <a:ext cx="3931920" cy="274320"/>
          </a:xfrm>
          <a:prstGeom prst="rect">
            <a:avLst/>
          </a:prstGeom>
          <a:noFill/>
          <a:ln/>
        </p:spPr>
        <p:txBody>
          <a:bodyPr wrap="square" lIns="0" tIns="0" rIns="0" bIns="0" rtlCol="0" anchor="ctr"/>
          <a:lstStyle/>
          <a:p>
            <a:pPr indent="0" marL="0">
              <a:buNone/>
            </a:pPr>
            <a:r>
              <a:rPr lang="en-US" sz="1400" b="1" dirty="0">
                <a:solidFill>
                  <a:schemeClr val="tx2"/>
                </a:solidFill>
                <a:latin typeface="Cambria" pitchFamily="34" charset="0"/>
                <a:ea typeface="Cambria" pitchFamily="34" charset="-122"/>
                <a:cs typeface="Cambria" pitchFamily="34" charset="-120"/>
              </a:rPr>
              <a:t>Find the root cause</a:t>
            </a:r>
            <a:endParaRPr lang="en-US" sz="1400" dirty="0"/>
          </a:p>
        </p:txBody>
      </p:sp>
      <p:sp>
        <p:nvSpPr>
          <p:cNvPr id="10" name="Text 8"/>
          <p:cNvSpPr txBox="1"/>
          <p:nvPr/>
        </p:nvSpPr>
        <p:spPr>
          <a:xfrm>
            <a:off x="1051560" y="2377440"/>
            <a:ext cx="3931920" cy="457200"/>
          </a:xfrm>
          <a:prstGeom prst="rect">
            <a:avLst/>
          </a:prstGeom>
          <a:noFill/>
          <a:ln/>
        </p:spPr>
        <p:txBody>
          <a:bodyPr wrap="square" lIns="0" tIns="0" rIns="0" bIns="0" rtlCol="0" anchor="t"/>
          <a:lstStyle/>
          <a:p>
            <a:pPr indent="0" marL="0">
              <a:buNone/>
            </a:pPr>
            <a:r>
              <a:rPr lang="en-US" sz="1100" dirty="0">
                <a:solidFill>
                  <a:schemeClr val="tx1"/>
                </a:solidFill>
                <a:latin typeface="Calibri" pitchFamily="34" charset="0"/>
                <a:ea typeface="Calibri" pitchFamily="34" charset="-122"/>
                <a:cs typeface="Calibri" pitchFamily="34" charset="-120"/>
              </a:rPr>
              <a:t>Split lateness into seller handover time and carrier transit time in the 5 states and 15 sellers.</a:t>
            </a:r>
            <a:endParaRPr lang="en-US" sz="1100" dirty="0"/>
          </a:p>
        </p:txBody>
      </p:sp>
      <p:sp>
        <p:nvSpPr>
          <p:cNvPr id="11" name="Step 3"/>
          <p:cNvSpPr/>
          <p:nvPr/>
        </p:nvSpPr>
        <p:spPr>
          <a:xfrm>
            <a:off x="457200" y="2971800"/>
            <a:ext cx="411480" cy="411480"/>
          </a:xfrm>
          <a:prstGeom prst="ellipse">
            <a:avLst/>
          </a:prstGeom>
          <a:solidFill>
            <a:schemeClr val="accent1"/>
          </a:solidFill>
          <a:ln w="12700">
            <a:solidFill>
              <a:schemeClr val="accent1"/>
            </a:solidFill>
            <a:prstDash val="solid"/>
          </a:ln>
        </p:spPr>
      </p:sp>
      <p:sp>
        <p:nvSpPr>
          <p:cNvPr id="12" name="Text 10"/>
          <p:cNvSpPr txBox="1"/>
          <p:nvPr/>
        </p:nvSpPr>
        <p:spPr>
          <a:xfrm>
            <a:off x="457200" y="2971800"/>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1051560" y="2926080"/>
            <a:ext cx="3931920" cy="274320"/>
          </a:xfrm>
          <a:prstGeom prst="rect">
            <a:avLst/>
          </a:prstGeom>
          <a:noFill/>
          <a:ln/>
        </p:spPr>
        <p:txBody>
          <a:bodyPr wrap="square" lIns="0" tIns="0" rIns="0" bIns="0" rtlCol="0" anchor="ctr"/>
          <a:lstStyle/>
          <a:p>
            <a:pPr indent="0" marL="0">
              <a:buNone/>
            </a:pPr>
            <a:r>
              <a:rPr lang="en-US" sz="1400" b="1" dirty="0">
                <a:solidFill>
                  <a:schemeClr val="tx2"/>
                </a:solidFill>
                <a:latin typeface="Cambria" pitchFamily="34" charset="0"/>
                <a:ea typeface="Cambria" pitchFamily="34" charset="-122"/>
                <a:cs typeface="Cambria" pitchFamily="34" charset="-120"/>
              </a:rPr>
              <a:t>Pilot and measure</a:t>
            </a:r>
            <a:endParaRPr lang="en-US" sz="1400" dirty="0"/>
          </a:p>
        </p:txBody>
      </p:sp>
      <p:sp>
        <p:nvSpPr>
          <p:cNvPr id="14" name="Text 12"/>
          <p:cNvSpPr txBox="1"/>
          <p:nvPr/>
        </p:nvSpPr>
        <p:spPr>
          <a:xfrm>
            <a:off x="1051560" y="3200400"/>
            <a:ext cx="3931920" cy="457200"/>
          </a:xfrm>
          <a:prstGeom prst="rect">
            <a:avLst/>
          </a:prstGeom>
          <a:noFill/>
          <a:ln/>
        </p:spPr>
        <p:txBody>
          <a:bodyPr wrap="square" lIns="0" tIns="0" rIns="0" bIns="0" rtlCol="0" anchor="t"/>
          <a:lstStyle/>
          <a:p>
            <a:pPr indent="0" marL="0">
              <a:buNone/>
            </a:pPr>
            <a:r>
              <a:rPr lang="en-US" sz="1100" dirty="0">
                <a:solidFill>
                  <a:schemeClr val="tx1"/>
                </a:solidFill>
                <a:latin typeface="Calibri" pitchFamily="34" charset="0"/>
                <a:ea typeface="Calibri" pitchFamily="34" charset="-122"/>
                <a:cs typeface="Calibri" pitchFamily="34" charset="-120"/>
              </a:rPr>
              <a:t>Start with the 15 sellers and one slow state; compare late % and review score before and after.</a:t>
            </a:r>
            <a:endParaRPr lang="en-US" sz="1100" dirty="0"/>
          </a:p>
        </p:txBody>
      </p:sp>
      <p:sp>
        <p:nvSpPr>
          <p:cNvPr id="15" name="Step 4"/>
          <p:cNvSpPr/>
          <p:nvPr/>
        </p:nvSpPr>
        <p:spPr>
          <a:xfrm>
            <a:off x="457200" y="3794760"/>
            <a:ext cx="411480" cy="411480"/>
          </a:xfrm>
          <a:prstGeom prst="ellipse">
            <a:avLst/>
          </a:prstGeom>
          <a:solidFill>
            <a:schemeClr val="accent1"/>
          </a:solidFill>
          <a:ln w="12700">
            <a:solidFill>
              <a:schemeClr val="accent1"/>
            </a:solidFill>
            <a:prstDash val="solid"/>
          </a:ln>
        </p:spPr>
      </p:sp>
      <p:sp>
        <p:nvSpPr>
          <p:cNvPr id="16" name="Text 14"/>
          <p:cNvSpPr txBox="1"/>
          <p:nvPr/>
        </p:nvSpPr>
        <p:spPr>
          <a:xfrm>
            <a:off x="457200" y="3794760"/>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7" name="Text 15"/>
          <p:cNvSpPr txBox="1"/>
          <p:nvPr/>
        </p:nvSpPr>
        <p:spPr>
          <a:xfrm>
            <a:off x="1051560" y="3749040"/>
            <a:ext cx="3931920" cy="274320"/>
          </a:xfrm>
          <a:prstGeom prst="rect">
            <a:avLst/>
          </a:prstGeom>
          <a:noFill/>
          <a:ln/>
        </p:spPr>
        <p:txBody>
          <a:bodyPr wrap="square" lIns="0" tIns="0" rIns="0" bIns="0" rtlCol="0" anchor="ctr"/>
          <a:lstStyle/>
          <a:p>
            <a:pPr indent="0" marL="0">
              <a:buNone/>
            </a:pPr>
            <a:r>
              <a:rPr lang="en-US" sz="1400" b="1" dirty="0">
                <a:solidFill>
                  <a:schemeClr val="tx2"/>
                </a:solidFill>
                <a:latin typeface="Cambria" pitchFamily="34" charset="0"/>
                <a:ea typeface="Cambria" pitchFamily="34" charset="-122"/>
                <a:cs typeface="Cambria" pitchFamily="34" charset="-120"/>
              </a:rPr>
              <a:t>Track every month</a:t>
            </a:r>
            <a:endParaRPr lang="en-US" sz="1400" dirty="0"/>
          </a:p>
        </p:txBody>
      </p:sp>
      <p:sp>
        <p:nvSpPr>
          <p:cNvPr id="18" name="Text 16"/>
          <p:cNvSpPr txBox="1"/>
          <p:nvPr/>
        </p:nvSpPr>
        <p:spPr>
          <a:xfrm>
            <a:off x="1051560" y="4023360"/>
            <a:ext cx="3931920" cy="457200"/>
          </a:xfrm>
          <a:prstGeom prst="rect">
            <a:avLst/>
          </a:prstGeom>
          <a:noFill/>
          <a:ln/>
        </p:spPr>
        <p:txBody>
          <a:bodyPr wrap="square" lIns="0" tIns="0" rIns="0" bIns="0" rtlCol="0" anchor="t"/>
          <a:lstStyle/>
          <a:p>
            <a:pPr indent="0" marL="0">
              <a:buNone/>
            </a:pPr>
            <a:r>
              <a:rPr lang="en-US" sz="1100" dirty="0">
                <a:solidFill>
                  <a:schemeClr val="tx1"/>
                </a:solidFill>
                <a:latin typeface="Calibri" pitchFamily="34" charset="0"/>
                <a:ea typeface="Calibri" pitchFamily="34" charset="-122"/>
                <a:cs typeface="Calibri" pitchFamily="34" charset="-120"/>
              </a:rPr>
              <a:t>Report on-time %, late % by state and average review on one page, like the Excel dashboard.</a:t>
            </a:r>
            <a:endParaRPr lang="en-US" sz="1100" dirty="0"/>
          </a:p>
        </p:txBody>
      </p:sp>
      <p:sp>
        <p:nvSpPr>
          <p:cNvPr id="19" name="Limits card"/>
          <p:cNvSpPr/>
          <p:nvPr/>
        </p:nvSpPr>
        <p:spPr>
          <a:xfrm>
            <a:off x="5394960" y="1280160"/>
            <a:ext cx="3291840" cy="3200400"/>
          </a:xfrm>
          <a:prstGeom prst="roundRect">
            <a:avLst>
              <a:gd name="adj" fmla="val 2286"/>
            </a:avLst>
          </a:prstGeom>
          <a:solidFill>
            <a:schemeClr val="bg2"/>
          </a:solidFill>
          <a:ln w="9525">
            <a:solidFill>
              <a:srgbClr val="E5E7EB"/>
            </a:solidFill>
            <a:prstDash val="solid"/>
          </a:ln>
        </p:spPr>
      </p:sp>
      <p:sp>
        <p:nvSpPr>
          <p:cNvPr id="20" name="Text 18"/>
          <p:cNvSpPr txBox="1"/>
          <p:nvPr/>
        </p:nvSpPr>
        <p:spPr>
          <a:xfrm>
            <a:off x="5577840" y="1371600"/>
            <a:ext cx="2926080" cy="365760"/>
          </a:xfrm>
          <a:prstGeom prst="rect">
            <a:avLst/>
          </a:prstGeom>
          <a:noFill/>
          <a:ln/>
        </p:spPr>
        <p:txBody>
          <a:bodyPr wrap="square" lIns="0" tIns="0" rIns="0" bIns="0" rtlCol="0" anchor="ctr"/>
          <a:lstStyle/>
          <a:p>
            <a:pPr indent="0" marL="0">
              <a:buNone/>
            </a:pPr>
            <a:r>
              <a:rPr lang="en-US" sz="1300" b="1" dirty="0">
                <a:solidFill>
                  <a:schemeClr val="accent2"/>
                </a:solidFill>
                <a:latin typeface="Cambria" pitchFamily="34" charset="0"/>
                <a:ea typeface="Cambria" pitchFamily="34" charset="-122"/>
                <a:cs typeface="Cambria" pitchFamily="34" charset="-120"/>
              </a:rPr>
              <a:t>What this analysis cannot tell us</a:t>
            </a:r>
            <a:endParaRPr lang="en-US" sz="1300" dirty="0"/>
          </a:p>
        </p:txBody>
      </p:sp>
      <p:sp>
        <p:nvSpPr>
          <p:cNvPr id="21" name="Text 19"/>
          <p:cNvSpPr txBox="1"/>
          <p:nvPr/>
        </p:nvSpPr>
        <p:spPr>
          <a:xfrm>
            <a:off x="5577840" y="1783080"/>
            <a:ext cx="2926080" cy="2606040"/>
          </a:xfrm>
          <a:prstGeom prst="rect">
            <a:avLst/>
          </a:prstGeom>
          <a:noFill/>
          <a:ln/>
        </p:spPr>
        <p:txBody>
          <a:bodyPr wrap="square" lIns="0" tIns="0" rIns="0" bIns="0" rtlCol="0" anchor="t"/>
          <a:lstStyle/>
          <a:p>
            <a:pPr marL="342900" indent="-342900">
              <a:spcAft>
                <a:spcPts val="600"/>
              </a:spcAft>
              <a:buSzPct val="100000"/>
              <a:buChar char="•"/>
            </a:pPr>
            <a:r>
              <a:rPr lang="en-US" sz="1100" dirty="0">
                <a:solidFill>
                  <a:schemeClr val="tx1"/>
                </a:solidFill>
                <a:latin typeface="Calibri" pitchFamily="34" charset="0"/>
                <a:ea typeface="Calibri" pitchFamily="34" charset="-122"/>
                <a:cs typeface="Calibri" pitchFamily="34" charset="-120"/>
              </a:rPr>
              <a:t>Profit: the data has no cost or margin.</a:t>
            </a:r>
            <a:endParaRPr lang="en-US" sz="1100" dirty="0"/>
          </a:p>
          <a:p>
            <a:pPr marL="342900" indent="-342900">
              <a:spcAft>
                <a:spcPts val="600"/>
              </a:spcAft>
              <a:buSzPct val="100000"/>
              <a:buChar char="•"/>
            </a:pPr>
            <a:r>
              <a:rPr lang="en-US" sz="1100" dirty="0">
                <a:solidFill>
                  <a:schemeClr val="tx1"/>
                </a:solidFill>
                <a:latin typeface="Calibri" pitchFamily="34" charset="0"/>
                <a:ea typeface="Calibri" pitchFamily="34" charset="-122"/>
                <a:cs typeface="Calibri" pitchFamily="34" charset="-120"/>
              </a:rPr>
              <a:t>Why orders are late: it shows where and when, not the cause.</a:t>
            </a:r>
            <a:endParaRPr lang="en-US" sz="1100" dirty="0"/>
          </a:p>
          <a:p>
            <a:pPr marL="342900" indent="-342900">
              <a:spcAft>
                <a:spcPts val="600"/>
              </a:spcAft>
              <a:buSzPct val="100000"/>
              <a:buChar char="•"/>
            </a:pPr>
            <a:r>
              <a:rPr lang="en-US" sz="1100" dirty="0">
                <a:solidFill>
                  <a:schemeClr val="tx1"/>
                </a:solidFill>
                <a:latin typeface="Calibri" pitchFamily="34" charset="0"/>
                <a:ea typeface="Calibri" pitchFamily="34" charset="-122"/>
                <a:cs typeface="Calibri" pitchFamily="34" charset="-120"/>
              </a:rPr>
              <a:t>Invoice timing: there is a payment table but no invoice dates.</a:t>
            </a:r>
            <a:endParaRPr lang="en-US" sz="1100" dirty="0"/>
          </a:p>
          <a:p>
            <a:pPr marL="342900" indent="-342900">
              <a:spcAft>
                <a:spcPts val="600"/>
              </a:spcAft>
              <a:buSzPct val="100000"/>
              <a:buChar char="•"/>
            </a:pPr>
            <a:r>
              <a:rPr lang="en-US" sz="1100" dirty="0">
                <a:solidFill>
                  <a:schemeClr val="tx1"/>
                </a:solidFill>
                <a:latin typeface="Calibri" pitchFamily="34" charset="0"/>
                <a:ea typeface="Calibri" pitchFamily="34" charset="-122"/>
                <a:cs typeface="Calibri" pitchFamily="34" charset="-120"/>
              </a:rPr>
              <a:t>Orders still open: 1,722 orders never reached delivery in the data, and 1,234 were canceled or unavailable.</a:t>
            </a:r>
            <a:endParaRPr lang="en-US" sz="11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Calibri"/>
                <a:ea typeface="Calibri"/>
                <a:cs typeface="Calibri"/>
              </a:defRPr>
            </a:lvl1pPr>
          </a:lstStyle>
          <a:p>
            <a:pPr algn="l"/>
            <a:fld id="{F7021451-1387-4CA6-816F-3879F97B5CBC}" type="slidenum">
              <a:rPr b="0" lang="en-US"/>
              <a:t>6</a:t>
            </a:fld>
            <a:endParaRPr lang="en-US"/>
          </a:p>
        </p:txBody>
      </p:sp>
    </p:spTree>
  </p:cSld>
  <p:clrMapOvr>
    <a:masterClrMapping/>
  </p:clrMapOvr>
</p:sld>
</file>

<file path=ppt/theme/theme1.xml><?xml version="1.0" encoding="utf-8"?>
<a:theme xmlns:a="http://schemas.openxmlformats.org/drawingml/2006/main" name="Olist O2C">
  <a:themeElements>
    <a:clrScheme name="Olist O2C">
      <a:dk1>
        <a:srgbClr val="1F2937"/>
      </a:dk1>
      <a:lt1>
        <a:srgbClr val="FFFFFF"/>
      </a:lt1>
      <a:dk2>
        <a:srgbClr val="1F3864"/>
      </a:dk2>
      <a:lt2>
        <a:srgbClr val="F3F4F6"/>
      </a:lt2>
      <a:accent1>
        <a:srgbClr val="0F766E"/>
      </a:accent1>
      <a:accent2>
        <a:srgbClr val="C0392B"/>
      </a:accent2>
      <a:accent3>
        <a:srgbClr val="1F3864"/>
      </a:accent3>
      <a:accent4>
        <a:srgbClr val="6B7280"/>
      </a:accent4>
      <a:accent5>
        <a:srgbClr val="F59E0B"/>
      </a:accent5>
      <a:accent6>
        <a:srgbClr val="94A3B8"/>
      </a:accent6>
      <a:hlink>
        <a:srgbClr val="0F766E"/>
      </a:hlink>
      <a:folHlink>
        <a:srgbClr val="6B7280"/>
      </a:folHlink>
    </a:clrScheme>
    <a:fontScheme name="Olist O2C">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Olist Order-to-Cash: Recommendations</dc:title>
  <dc:subject>PptxGenJS Presentation</dc:subject>
  <dc:creator>Drohanash</dc:creator>
  <cp:lastModifiedBy>Drohanash</cp:lastModifiedBy>
  <cp:revision>1</cp:revision>
  <dcterms:created xsi:type="dcterms:W3CDTF">2026-10-02T04:26:41Z</dcterms:created>
  <dcterms:modified xsi:type="dcterms:W3CDTF">2026-10-02T04:26:41Z</dcterms:modified>
</cp:coreProperties>
</file>